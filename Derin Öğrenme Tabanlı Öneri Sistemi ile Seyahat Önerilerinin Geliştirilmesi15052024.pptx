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5143500" type="screen16x9"/>
  <p:notesSz cx="6858000" cy="9144000"/>
  <p:embeddedFontLst>
    <p:embeddedFont>
      <p:font typeface="Economica" panose="020B0604020202020204" charset="0"/>
      <p:regular r:id="rId25"/>
      <p:bold r:id="rId26"/>
      <p:italic r:id="rId27"/>
      <p:boldItalic r:id="rId28"/>
    </p:embeddedFont>
    <p:embeddedFont>
      <p:font typeface="Open Sans" panose="020B0606030504020204" pitchFamily="34" charset="0"/>
      <p:regular r:id="rId29"/>
      <p:bold r:id="rId30"/>
      <p:italic r:id="rId31"/>
      <p:boldItalic r:id="rId32"/>
    </p:embeddedFont>
    <p:embeddedFont>
      <p:font typeface="Roboto"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AB02EC-E335-4945-A716-73AA5839B56D}">
  <a:tblStyle styleId="{51AB02EC-E335-4945-A716-73AA5839B56D}"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rgbClr val="FFFFFF"/>
      </a:tcTxStyle>
      <a:tcStyle>
        <a:tcBdr/>
        <a:fill>
          <a:solidFill>
            <a:srgbClr val="4472C4"/>
          </a:solidFill>
        </a:fill>
      </a:tcStyle>
    </a:lastCol>
    <a:firstCol>
      <a:tcTxStyle b="on" i="off">
        <a:font>
          <a:latin typeface="Calibri"/>
          <a:ea typeface="Calibri"/>
          <a:cs typeface="Calibri"/>
        </a:font>
        <a:srgbClr val="FFFFFF"/>
      </a:tcTxStyle>
      <a:tcStyle>
        <a:tcBdr/>
        <a:fill>
          <a:solidFill>
            <a:srgbClr val="4472C4"/>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472C4"/>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472C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3775" autoAdjust="0"/>
  </p:normalViewPr>
  <p:slideViewPr>
    <p:cSldViewPr snapToGrid="0">
      <p:cViewPr varScale="1">
        <p:scale>
          <a:sx n="51" d="100"/>
          <a:sy n="51" d="100"/>
        </p:scale>
        <p:origin x="195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990"/>
              <a:buFont typeface="Arial"/>
              <a:buNone/>
            </a:pPr>
            <a:endParaRPr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710608ddb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710608ddb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Derin Öğrenme Tabanlı Öneri Sistemi ile Seyahat Önerilerinin Geliştirilmesi konulu takdimimizi yansıda görülen başlıklar altında, 10 dk içerisinde sunacağım.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710608ddb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710608ddb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tr" sz="1200" dirty="0">
                <a:solidFill>
                  <a:srgbClr val="0D0D0D"/>
                </a:solidFill>
                <a:latin typeface="Times New Roman"/>
                <a:ea typeface="Times New Roman"/>
                <a:cs typeface="Times New Roman"/>
                <a:sym typeface="Times New Roman"/>
              </a:rPr>
              <a:t>Seyahat öneri sistemleri, kullanıcılar için kişiselleştirilmiş öneriler sunmayı amaçlar. Önemi giderek artmakla birlikte, bu önerilerin karmaşıklığı ve kullanıcıların tercihlerinin belirlenmesi gün geçtikçe zorlaşmaktadır. Derin öğrenme, özellikle seyahat öneri sistemlerinde bu karmaşıklıkla başa çıkmak için önemli bir araçtır. Bu çalışma, derin öğrenme temelli bir seyahat öneri sistemi için yeni mimariler, veri işleme teknikleri ve hiper parametre ayarlamaları sunmaktadır. NVIDIA Ekibi'nin WSDM WebTour 2021 Yarışması'nda kazandığı çözümün analizine dayanarak, bu çalışma mevcut hibrit algoritmanın ilk kısmını, veri kümesini ve parametre ayarlamayı iyileştirmeyi amaçlamaktadır.</a:t>
            </a:r>
            <a:endParaRPr sz="1200" dirty="0">
              <a:solidFill>
                <a:srgbClr val="0D0D0D"/>
              </a:solidFill>
              <a:latin typeface="Times New Roman"/>
              <a:ea typeface="Times New Roman"/>
              <a:cs typeface="Times New Roman"/>
              <a:sym typeface="Times New Roman"/>
            </a:endParaRPr>
          </a:p>
          <a:p>
            <a:pPr marL="0" lvl="0" indent="0" algn="l" rtl="0">
              <a:spcBef>
                <a:spcPts val="1500"/>
              </a:spcBef>
              <a:spcAft>
                <a:spcPts val="0"/>
              </a:spcAft>
              <a:buNone/>
            </a:pPr>
            <a:endParaRPr sz="1200" dirty="0">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710608ddb0_0_6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710608ddb0_0_6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FontTx/>
              <a:buNone/>
            </a:pPr>
            <a:r>
              <a:rPr lang="en-US" sz="1200" dirty="0" err="1">
                <a:solidFill>
                  <a:srgbClr val="0D0D0D"/>
                </a:solidFill>
                <a:latin typeface="Times New Roman"/>
                <a:ea typeface="Times New Roman"/>
                <a:cs typeface="Times New Roman"/>
                <a:sym typeface="Times New Roman"/>
              </a:rPr>
              <a:t>Tavsiye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sistemleri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genellikle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içerik</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tabanlı</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işbirlikçi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filtreleme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tabanlı</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veya</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hibrit</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yöntemlerle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çalışır</a:t>
            </a:r>
            <a:r>
              <a:rPr lang="en-US" sz="1200" dirty="0">
                <a:solidFill>
                  <a:srgbClr val="0D0D0D"/>
                </a:solidFill>
                <a:latin typeface="Times New Roman"/>
                <a:ea typeface="Times New Roman"/>
                <a:cs typeface="Times New Roman"/>
                <a:sym typeface="Times New Roman"/>
              </a:rPr>
              <a:t>.</a:t>
            </a:r>
            <a:r>
              <a:rPr lang="tr-TR" sz="1200" dirty="0">
                <a:solidFill>
                  <a:srgbClr val="0D0D0D"/>
                </a:solidFill>
                <a:latin typeface="Times New Roman"/>
                <a:ea typeface="Times New Roman"/>
                <a:cs typeface="Times New Roman"/>
                <a:sym typeface="Times New Roman"/>
              </a:rPr>
              <a:t> Şekilde de örneği verildiği gibi i</a:t>
            </a:r>
            <a:r>
              <a:rPr lang="en-US" sz="2000" b="0" i="0" dirty="0" err="1">
                <a:solidFill>
                  <a:srgbClr val="0D0D0D"/>
                </a:solidFill>
                <a:effectLst/>
                <a:highlight>
                  <a:srgbClr val="FFFFFF"/>
                </a:highlight>
                <a:latin typeface="Söhne"/>
              </a:rPr>
              <a:t>çerik</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tabanlı</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öneri</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sistemleri</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kullanıcıların</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geçmiş</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tercihlerine</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ve</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öğelerin</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içeriğine</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dayanarak</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öneriler</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yapar</a:t>
            </a:r>
            <a:r>
              <a:rPr lang="tr-TR" sz="2000" b="0" i="0" dirty="0">
                <a:solidFill>
                  <a:srgbClr val="0D0D0D"/>
                </a:solidFill>
                <a:effectLst/>
                <a:highlight>
                  <a:srgbClr val="FFFFFF"/>
                </a:highlight>
                <a:latin typeface="Söhne"/>
              </a:rPr>
              <a:t>, kullanıcıya izlemiş olduğu bir film baz alınarak bir öneride bulunulur</a:t>
            </a:r>
            <a:r>
              <a:rPr lang="en-US" sz="2000" b="0" i="0" dirty="0">
                <a:solidFill>
                  <a:srgbClr val="0D0D0D"/>
                </a:solidFill>
                <a:effectLst/>
                <a:highlight>
                  <a:srgbClr val="FFFFFF"/>
                </a:highlight>
                <a:latin typeface="Söhne"/>
              </a:rPr>
              <a:t>.</a:t>
            </a:r>
            <a:r>
              <a:rPr lang="tr-TR"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İşbirlikçi</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filtreleme</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öneri</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sistemleri</a:t>
            </a:r>
            <a:r>
              <a:rPr lang="en-US" sz="2000" b="0" i="0" dirty="0">
                <a:solidFill>
                  <a:srgbClr val="0D0D0D"/>
                </a:solidFill>
                <a:effectLst/>
                <a:highlight>
                  <a:srgbClr val="FFFFFF"/>
                </a:highlight>
                <a:latin typeface="Söhne"/>
              </a:rPr>
              <a:t>, </a:t>
            </a:r>
            <a:r>
              <a:rPr lang="tr-TR" sz="2000" b="0" i="0" dirty="0">
                <a:solidFill>
                  <a:srgbClr val="0D0D0D"/>
                </a:solidFill>
                <a:effectLst/>
                <a:highlight>
                  <a:srgbClr val="FFFFFF"/>
                </a:highlight>
                <a:latin typeface="Söhne"/>
              </a:rPr>
              <a:t>benzer </a:t>
            </a:r>
            <a:r>
              <a:rPr lang="en-US" sz="2000" b="0" i="0" dirty="0" err="1">
                <a:solidFill>
                  <a:srgbClr val="0D0D0D"/>
                </a:solidFill>
                <a:effectLst/>
                <a:highlight>
                  <a:srgbClr val="FFFFFF"/>
                </a:highlight>
                <a:latin typeface="Söhne"/>
              </a:rPr>
              <a:t>kullanıcıların</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benzer</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tercihlerine</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ve</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davranışlarına</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dayanarak</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öneriler</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üretir</a:t>
            </a:r>
            <a:r>
              <a:rPr lang="tr-TR" sz="2000" b="0" i="0" dirty="0">
                <a:solidFill>
                  <a:srgbClr val="0D0D0D"/>
                </a:solidFill>
                <a:effectLst/>
                <a:highlight>
                  <a:srgbClr val="FFFFFF"/>
                </a:highlight>
                <a:latin typeface="Söhne"/>
              </a:rPr>
              <a:t>, örneğin aynı iki filmi izleyen iki farklı kullanıcıdan birisinin izlediği üçüncü bir film diğer kullanıcıya da muhtemel bir öneridir bu öneri </a:t>
            </a:r>
            <a:r>
              <a:rPr lang="tr-TR" sz="2000" b="0" i="0">
                <a:solidFill>
                  <a:srgbClr val="0D0D0D"/>
                </a:solidFill>
                <a:effectLst/>
                <a:highlight>
                  <a:srgbClr val="FFFFFF"/>
                </a:highlight>
                <a:latin typeface="Söhne"/>
              </a:rPr>
              <a:t>sistemi türünde</a:t>
            </a:r>
            <a:r>
              <a:rPr lang="en-US" sz="2000" b="0" i="0">
                <a:solidFill>
                  <a:srgbClr val="0D0D0D"/>
                </a:solidFill>
                <a:effectLst/>
                <a:highlight>
                  <a:srgbClr val="FFFFFF"/>
                </a:highlight>
                <a:latin typeface="Söhne"/>
              </a:rPr>
              <a:t>.</a:t>
            </a:r>
            <a:r>
              <a:rPr lang="tr-TR"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Hibrit</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öneri</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sistemleri</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içerik</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tabanlı</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ve</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işbirlikçi</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filtreleme</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yöntemlerini</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birleştirerek</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daha</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doğru</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ve</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kişiselleştirilmiş</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öneriler</a:t>
            </a:r>
            <a:r>
              <a:rPr lang="en-US" sz="2000" b="0" i="0" dirty="0">
                <a:solidFill>
                  <a:srgbClr val="0D0D0D"/>
                </a:solidFill>
                <a:effectLst/>
                <a:highlight>
                  <a:srgbClr val="FFFFFF"/>
                </a:highlight>
                <a:latin typeface="Söhne"/>
              </a:rPr>
              <a:t> </a:t>
            </a:r>
            <a:r>
              <a:rPr lang="en-US" sz="2000" b="0" i="0" dirty="0" err="1">
                <a:solidFill>
                  <a:srgbClr val="0D0D0D"/>
                </a:solidFill>
                <a:effectLst/>
                <a:highlight>
                  <a:srgbClr val="FFFFFF"/>
                </a:highlight>
                <a:latin typeface="Söhne"/>
              </a:rPr>
              <a:t>sunar</a:t>
            </a:r>
            <a:r>
              <a:rPr lang="en-US" sz="2000" b="0" i="0" dirty="0">
                <a:solidFill>
                  <a:srgbClr val="0D0D0D"/>
                </a:solidFill>
                <a:effectLst/>
                <a:highlight>
                  <a:srgbClr val="FFFFFF"/>
                </a:highlight>
                <a:latin typeface="Söhne"/>
              </a:rPr>
              <a:t>.</a:t>
            </a:r>
            <a:r>
              <a:rPr lang="tr-TR" sz="2000" b="0" i="0" dirty="0">
                <a:solidFill>
                  <a:srgbClr val="0D0D0D"/>
                </a:solidFill>
                <a:effectLst/>
                <a:highlight>
                  <a:srgbClr val="FFFFFF"/>
                </a:highlight>
                <a:latin typeface="Söhne"/>
              </a:rPr>
              <a:t> </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Derin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öğrenme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bu</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sistemlerde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öneri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algoritmalarının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performansını</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artırmak</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için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kullanılan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bir</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yöntemdir</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Çeşitli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araştırmalar</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derin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öğrenmenin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tavsiye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doğruluğunu</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artırdığını</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ve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karmaşık</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veri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yapılarını</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ele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alabildiğini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göstermektedir</a:t>
            </a:r>
            <a:r>
              <a:rPr lang="en-US" sz="1200" dirty="0">
                <a:solidFill>
                  <a:srgbClr val="0D0D0D"/>
                </a:solidFill>
                <a:latin typeface="Times New Roman"/>
                <a:ea typeface="Times New Roman"/>
                <a:cs typeface="Times New Roman"/>
                <a:sym typeface="Times New Roman"/>
              </a:rPr>
              <a:t>. Bu </a:t>
            </a:r>
            <a:r>
              <a:rPr lang="en-US" sz="1200" dirty="0" err="1">
                <a:solidFill>
                  <a:srgbClr val="0D0D0D"/>
                </a:solidFill>
                <a:latin typeface="Times New Roman"/>
                <a:ea typeface="Times New Roman"/>
                <a:cs typeface="Times New Roman"/>
                <a:sym typeface="Times New Roman"/>
              </a:rPr>
              <a:t>çalışmanın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katkıları</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arasında</a:t>
            </a:r>
            <a:r>
              <a:rPr lang="en-US" sz="1200" dirty="0">
                <a:solidFill>
                  <a:srgbClr val="0D0D0D"/>
                </a:solidFill>
                <a:latin typeface="Times New Roman"/>
                <a:ea typeface="Times New Roman"/>
                <a:cs typeface="Times New Roman"/>
                <a:sym typeface="Times New Roman"/>
              </a:rPr>
              <a:t> model </a:t>
            </a:r>
            <a:r>
              <a:rPr lang="en-US" sz="1200" dirty="0" err="1">
                <a:solidFill>
                  <a:srgbClr val="0D0D0D"/>
                </a:solidFill>
                <a:latin typeface="Times New Roman"/>
                <a:ea typeface="Times New Roman"/>
                <a:cs typeface="Times New Roman"/>
                <a:sym typeface="Times New Roman"/>
              </a:rPr>
              <a:t>optimizasyonu</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ve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hiper</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parametre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ayarlaması</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yer</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almaktadır</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Çeşitli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derin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öğrenme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mimarileri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ve</a:t>
            </a:r>
            <a:r>
              <a:rPr lang="en-US" sz="1200" dirty="0">
                <a:solidFill>
                  <a:srgbClr val="0D0D0D"/>
                </a:solidFill>
                <a:latin typeface="Times New Roman"/>
                <a:ea typeface="Times New Roman"/>
                <a:cs typeface="Times New Roman"/>
                <a:sym typeface="Times New Roman"/>
              </a:rPr>
              <a:t> Bayes </a:t>
            </a:r>
            <a:r>
              <a:rPr lang="en-US" sz="1200" dirty="0" err="1">
                <a:solidFill>
                  <a:srgbClr val="0D0D0D"/>
                </a:solidFill>
                <a:latin typeface="Times New Roman"/>
                <a:ea typeface="Times New Roman"/>
                <a:cs typeface="Times New Roman"/>
                <a:sym typeface="Times New Roman"/>
              </a:rPr>
              <a:t>yöntemi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kullanılarak</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yapılan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deneyler</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daha</a:t>
            </a:r>
            <a:r>
              <a:rPr lang="en-US" sz="1200" dirty="0">
                <a:solidFill>
                  <a:srgbClr val="0D0D0D"/>
                </a:solidFill>
                <a:latin typeface="Times New Roman"/>
                <a:ea typeface="Times New Roman"/>
                <a:cs typeface="Times New Roman"/>
                <a:sym typeface="Times New Roman"/>
              </a:rPr>
              <a:t> iyi </a:t>
            </a:r>
            <a:r>
              <a:rPr lang="en-US" sz="1200" dirty="0" err="1">
                <a:solidFill>
                  <a:srgbClr val="0D0D0D"/>
                </a:solidFill>
                <a:latin typeface="Times New Roman"/>
                <a:ea typeface="Times New Roman"/>
                <a:cs typeface="Times New Roman"/>
                <a:sym typeface="Times New Roman"/>
              </a:rPr>
              <a:t>performans</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elde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etmek</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için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en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uygun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parametre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kombinasyonlarını</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belirlemeye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yöneliktir</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Sonuç</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olarak</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bu</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çalışma</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seyahat</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öneri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sistemlerinde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derin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öğrenmenin</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etkinliğini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ve</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kullanımını</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geliştirmeyi</a:t>
            </a:r>
            <a:r>
              <a:rPr lang="en-US" sz="1200" dirty="0">
                <a:solidFill>
                  <a:srgbClr val="0D0D0D"/>
                </a:solidFill>
                <a:latin typeface="Times New Roman"/>
                <a:ea typeface="Times New Roman"/>
                <a:cs typeface="Times New Roman"/>
                <a:sym typeface="Times New Roman"/>
              </a:rPr>
              <a:t> </a:t>
            </a:r>
            <a:r>
              <a:rPr lang="en-US" sz="1200" dirty="0" err="1">
                <a:solidFill>
                  <a:srgbClr val="0D0D0D"/>
                </a:solidFill>
                <a:latin typeface="Times New Roman"/>
                <a:ea typeface="Times New Roman"/>
                <a:cs typeface="Times New Roman"/>
                <a:sym typeface="Times New Roman"/>
              </a:rPr>
              <a:t>amaçlamaktadır</a:t>
            </a:r>
            <a:r>
              <a:rPr lang="en-US" sz="1200" dirty="0">
                <a:solidFill>
                  <a:srgbClr val="0D0D0D"/>
                </a:solidFill>
                <a:latin typeface="Times New Roman"/>
                <a:ea typeface="Times New Roman"/>
                <a:cs typeface="Times New Roman"/>
                <a:sym typeface="Times New Roman"/>
              </a:rPr>
              <a:t>.</a:t>
            </a:r>
          </a:p>
          <a:p>
            <a:pPr marL="0" lvl="0" indent="0" algn="l" rtl="0">
              <a:lnSpc>
                <a:spcPct val="115000"/>
              </a:lnSpc>
              <a:spcBef>
                <a:spcPts val="1500"/>
              </a:spcBef>
              <a:spcAft>
                <a:spcPts val="0"/>
              </a:spcAft>
              <a:buClr>
                <a:schemeClr val="dk1"/>
              </a:buClr>
              <a:buSzPts val="1100"/>
              <a:buFont typeface="Arial"/>
              <a:buNone/>
            </a:pPr>
            <a:endParaRPr sz="1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710608ddb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710608ddb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500"/>
              </a:spcBef>
              <a:spcAft>
                <a:spcPts val="0"/>
              </a:spcAft>
              <a:buClr>
                <a:schemeClr val="dk1"/>
              </a:buClr>
              <a:buSzPts val="1100"/>
              <a:buFont typeface="Arial"/>
              <a:buNone/>
            </a:pPr>
            <a:r>
              <a:rPr lang="tr" sz="1200" dirty="0">
                <a:solidFill>
                  <a:srgbClr val="0D0D0D"/>
                </a:solidFill>
                <a:latin typeface="Roboto"/>
                <a:ea typeface="Roboto"/>
                <a:cs typeface="Roboto"/>
                <a:sym typeface="Roboto"/>
              </a:rPr>
              <a:t>Matris çarpanlara ayırma, öneri sistemlerinde yaygın olarak kullanılan bir makine öğrenimi tekniğidir. Büyük kullanıcı-öğe etkileşim matrisini daha düşük boyutlu matrislere böler ve gizli faktörleri keşfetmek için kullanır. Bu faktörler, kişiselleştirilmiş öneriler sağlamak için kullanılır.Örneğin, ekranda gördüğünüz basit bir kullanıcı-ürün matrisinde, A ve B kullanıcıları 2 ve 3 numaralı filmleri beğenmektedir. C kullanıcısı ise 2 numaralı filmi beğenmektedir. Eğer C kullanıcısına bir film önermek istiyorsak, matris faktörizasyonu, 2 numaralı filmi beğenen kullanıcıların genellikle 3 numaralı filmi de beğendiğini hesaplar ve dolayısıyla 3 numaralı filmi C kullanıcısına bir öneri olarak sunabilir.</a:t>
            </a:r>
            <a:endParaRPr sz="1200" dirty="0">
              <a:solidFill>
                <a:srgbClr val="0D0D0D"/>
              </a:solidFill>
              <a:latin typeface="Roboto"/>
              <a:ea typeface="Roboto"/>
              <a:cs typeface="Roboto"/>
              <a:sym typeface="Roboto"/>
            </a:endParaRPr>
          </a:p>
          <a:p>
            <a:pPr marL="0" lvl="0" indent="0" algn="l" rtl="0">
              <a:spcBef>
                <a:spcPts val="1500"/>
              </a:spcBef>
              <a:spcAft>
                <a:spcPts val="0"/>
              </a:spcAft>
              <a:buNone/>
            </a:pPr>
            <a:endParaRPr sz="1200" dirty="0">
              <a:solidFill>
                <a:srgbClr val="0D0D0D"/>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710608ddb0_0_7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710608ddb0_0_7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500"/>
              </a:spcAft>
              <a:buClr>
                <a:schemeClr val="dk1"/>
              </a:buClr>
              <a:buSzPts val="1100"/>
              <a:buFont typeface="Arial"/>
              <a:buNone/>
            </a:pPr>
            <a:r>
              <a:rPr lang="tr" sz="1200" dirty="0">
                <a:solidFill>
                  <a:srgbClr val="0D0D0D"/>
                </a:solidFill>
                <a:latin typeface="Roboto"/>
                <a:ea typeface="Roboto"/>
                <a:cs typeface="Roboto"/>
                <a:sym typeface="Roboto"/>
              </a:rPr>
              <a:t>Çok Katmanlı Algılayıcı (MLP), tamamen birbirine bağlı nöronlardan oluşan ve birden fazla katmana sahip yapay bir sinir ağıdır. Her katman, bir veya daha fazla nöron içerir ve ileri beslemeli bir yapıdadır, yani veriler giriş katmanından gizli katmanlara ve çıkış katmanına tek yönlü ilerler. MLP, genellikle sınıflandırma ve regresyon gibi birçok makine öğrenimi görevinde kullanılır.</a:t>
            </a:r>
          </a:p>
          <a:p>
            <a:pPr marL="0" lvl="0" indent="0" algn="l" rtl="0">
              <a:lnSpc>
                <a:spcPct val="115000"/>
              </a:lnSpc>
              <a:spcBef>
                <a:spcPts val="0"/>
              </a:spcBef>
              <a:spcAft>
                <a:spcPts val="1500"/>
              </a:spcAft>
              <a:buClr>
                <a:schemeClr val="dk1"/>
              </a:buClr>
              <a:buSzPts val="1100"/>
              <a:buFont typeface="Arial"/>
              <a:buNone/>
            </a:pPr>
            <a:r>
              <a:rPr lang="tr" sz="1100" dirty="0">
                <a:solidFill>
                  <a:srgbClr val="0D0D0D"/>
                </a:solidFill>
                <a:latin typeface="Roboto"/>
                <a:ea typeface="Roboto"/>
                <a:cs typeface="Roboto"/>
                <a:sym typeface="Roboto"/>
              </a:rPr>
              <a:t>Oturum Tabanlı Matris Çarpanlara Ayırma (SMF), bir kullanıcının oturumunda veya ziyaretinde bir sonraki öğeyi tahmin etmeye odaklanan öneri sistemleri için kullanılan bir modeldir. SMF, kullanıcıların ve öğelerin oturumlardaki etkileşimlerine dayanarak gizli özellikler öğrenir. SMF ve MLP'nin birleştirilmesi, kullanıcıların oturum temsilleri üzerinde çalışabilen ve karmaşık oturum verilerinde ilişkileri keşfedebilen bir yapı sunar. Bu hibrit yaklaşım, net etkileşimlere ve sıralı verilere sahip olan durumlarda özellikle etkilidir. SMF ve MLP'nin birlikte kullanılması, öneri sisteminin kullanıcılara daha iyi öneriler sunma yeteneğini artırır.</a:t>
            </a:r>
            <a:r>
              <a:rPr lang="en-GB" sz="1100" dirty="0">
                <a:solidFill>
                  <a:srgbClr val="0D0D0D"/>
                </a:solidFill>
                <a:latin typeface="Roboto"/>
                <a:ea typeface="Roboto"/>
                <a:cs typeface="Roboto"/>
                <a:sym typeface="Roboto"/>
              </a:rPr>
              <a:t>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710608ddb0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710608ddb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tr" sz="1200" dirty="0">
                <a:solidFill>
                  <a:srgbClr val="0D0D0D"/>
                </a:solidFill>
                <a:latin typeface="Roboto"/>
                <a:ea typeface="Roboto"/>
                <a:cs typeface="Roboto"/>
                <a:sym typeface="Roboto"/>
              </a:rPr>
              <a:t>WSDM WebTour 2021 Yarışması'nda Booking.com tarafından sağlanan seyahat verileri üzerinde yapılan tavsiye sistemleri araştırmasında NVIDIA Ekibinin hibrit algoritmasının ilk aşaması olan MLP-SMF mimarisi incelenmiş ve geliştirilmeye çalışılmıştır. Çalışma, iki farklı sistem üzerinde gerçekleştirilmiş ve kodlamak için Ubuntu 22.04 Linux ve Windows 10 işletim sistemleri kullanılmıştır. Kodlama için Ubuntu'da Visual Studio Code (VSCode), veri arttırımı ve özellik mühendisliği safhaları için Windows'ta SQL Server Management Studio (SSMS) kullanılmıştır. Veri analizi ve algoritma hesaplamaları için RAPIDS açık kaynak yazılım ve donanım hızlandırma platformu kullanılmış, deneyler, Wandb online platformu kullanılarak kaydedilmiş ve grafiklere dökülmüştür.Tahmin başarısını artırmak için yapılan çözüm önerileri üç kısımda ele alınmıştır. Birinci kısımda, veri setiyle ilgili özellik mühendisliği ve veri arttırımı yapılmıştır. İkinci kısımda, model ve mimari üzerinde çalışılmıştır. Üçüncü kısımda ise hiperparametre ayarlama deneyleri gerçekleştirilmiştir.</a:t>
            </a:r>
            <a:r>
              <a:rPr lang="en-GB" sz="1200" dirty="0">
                <a:solidFill>
                  <a:srgbClr val="0D0D0D"/>
                </a:solidFill>
                <a:latin typeface="Roboto"/>
                <a:ea typeface="Roboto"/>
                <a:cs typeface="Roboto"/>
                <a:sym typeface="Roboto"/>
              </a:rPr>
              <a:t> </a:t>
            </a:r>
            <a:endParaRPr sz="1200" dirty="0">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710608ddb0_0_7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710608ddb0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500"/>
              </a:spcBef>
              <a:spcAft>
                <a:spcPts val="0"/>
              </a:spcAft>
              <a:buClr>
                <a:schemeClr val="dk1"/>
              </a:buClr>
              <a:buSzPts val="1100"/>
              <a:buFont typeface="Arial"/>
              <a:buNone/>
            </a:pPr>
            <a:r>
              <a:rPr lang="tr" sz="1200" dirty="0">
                <a:solidFill>
                  <a:srgbClr val="0D0D0D"/>
                </a:solidFill>
                <a:latin typeface="Roboto"/>
                <a:ea typeface="Roboto"/>
                <a:cs typeface="Roboto"/>
                <a:sym typeface="Roboto"/>
              </a:rPr>
              <a:t>Veri seti, Booking.com'un çevrimiçi platformunda gerçekleştirilen seyahat rezervasyonlarını içermektedir. Anonimleştirilmiş ve eğitim-test setlerine bölünmüş olan veri seti, seyahat kararlarını anlamak amacıyla kullanılmıştır. Her bir veri satırı bir rezervasyonu temsil eder. Veri seti üzerinde yapılan ön işleme sürecinde, ilgili özellikler eklenmiş ve veri seti arttırılarak yeni seyahatler elde edilmiştir. Başlangıç verisinin özellikleri yansıda görüldüğü gibidir.</a:t>
            </a:r>
            <a:endParaRPr sz="1200" dirty="0">
              <a:solidFill>
                <a:srgbClr val="0D0D0D"/>
              </a:solidFill>
              <a:latin typeface="Roboto"/>
              <a:ea typeface="Roboto"/>
              <a:cs typeface="Roboto"/>
              <a:sym typeface="Roboto"/>
            </a:endParaRPr>
          </a:p>
          <a:p>
            <a:pPr marL="0" lvl="0" indent="0" algn="l" rtl="0">
              <a:spcBef>
                <a:spcPts val="150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710608ddb0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710608ddb0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dirty="0"/>
              <a:t>Veri setinin özellik mühendisliği sonrasında eklenmiş kolonlarıyla birlikte görünümü yansıda görüldüğü gibidir. İlgili satırın city_id ile aynı değerlere sahip current city, kendisinden sonra gelen şehri gösteren next_city, next_city ve current_city’nin kaç kez eşleştiğinin sayısını tutan pair_count ve son olarak ilgili satırın pair_count ile toplam eşleşme sayısının oranlanmasından oluşan probability sütunları eklenmiştir.</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710608ddb0_0_7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710608ddb0_0_7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dirty="0"/>
              <a:t>Hali hazırda var olan çalışmaya göre; seyahatleri tersine çevirmek aynı ulaşım ve mantıksal sıra içerisinde veri setini ikiye katlamış ve bu arttırılmış veri seti başarıyı da arttırmıştır. Bu düşünceden yola çıkarak; k</a:t>
            </a:r>
            <a:r>
              <a:rPr lang="tr" dirty="0">
                <a:solidFill>
                  <a:srgbClr val="0D0D0D"/>
                </a:solidFill>
              </a:rPr>
              <a:t>endi veri arttırımımızı uygulamak maksadıyla orijinal veri kümesinin satır sayısı, altı veya daha fazla ziyaret içeren her seyahatten ilk ve son şehir ziyaretlerini çıkararak arttırılmış, elde edilen yeni veriler veri setine, benzersiz utrip_id' lerine sahip yeni seyahatler olarak eklenmiştir. Bu veri arttırımı yaklaşımı üç kez tekrar edilerek üç farklı arttırılmış veri seti elde edilmiştir. Birinci iterasyonun sonunda, veri kümesi 1.545.502 satırdan 1.907.466 satıra, ikinci iterasyonda 2.096.681'e, üçüncü iterasyonda ise 2.172.282 satıra genişletmiştir.</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710608ddb0_0_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710608ddb0_0_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500"/>
              </a:spcBef>
              <a:spcAft>
                <a:spcPts val="1500"/>
              </a:spcAft>
              <a:buClr>
                <a:schemeClr val="dk1"/>
              </a:buClr>
              <a:buSzPts val="1100"/>
              <a:buFont typeface="Arial"/>
              <a:buNone/>
            </a:pPr>
            <a:r>
              <a:rPr lang="tr-TR" sz="1800" spc="-5" dirty="0">
                <a:effectLst/>
                <a:latin typeface="Times New Roman" panose="02020603050405020304" pitchFamily="18" charset="0"/>
                <a:ea typeface="MS Mincho" panose="02020609040205080304" pitchFamily="49" charset="-128"/>
              </a:rPr>
              <a:t>Model, seyahat ile ilgili kalınan şehirler ve ülkeleri, otel isimleri gibi kategorik, varış ve ayrılış tarihleri gibi numerik girdiler alır. Buradaki sonraki şehir tavsiye edeceğimiz etiketimizdir. Gömmeler (</a:t>
            </a:r>
            <a:r>
              <a:rPr lang="tr-TR" sz="1800" spc="-5" dirty="0" err="1">
                <a:effectLst/>
                <a:latin typeface="Times New Roman" panose="02020603050405020304" pitchFamily="18" charset="0"/>
                <a:ea typeface="MS Mincho" panose="02020609040205080304" pitchFamily="49" charset="-128"/>
              </a:rPr>
              <a:t>ing</a:t>
            </a:r>
            <a:r>
              <a:rPr lang="tr-TR" sz="1800" spc="-5" dirty="0">
                <a:effectLst/>
                <a:latin typeface="Times New Roman" panose="02020603050405020304" pitchFamily="18" charset="0"/>
                <a:ea typeface="MS Mincho" panose="02020609040205080304" pitchFamily="49" charset="-128"/>
              </a:rPr>
              <a:t>: </a:t>
            </a:r>
            <a:r>
              <a:rPr lang="tr-TR" sz="1800" spc="-5" dirty="0" err="1">
                <a:effectLst/>
                <a:latin typeface="Times New Roman" panose="02020603050405020304" pitchFamily="18" charset="0"/>
                <a:ea typeface="MS Mincho" panose="02020609040205080304" pitchFamily="49" charset="-128"/>
              </a:rPr>
              <a:t>embeddings</a:t>
            </a:r>
            <a:r>
              <a:rPr lang="tr-TR" sz="1800" spc="-5" dirty="0">
                <a:effectLst/>
                <a:latin typeface="Times New Roman" panose="02020603050405020304" pitchFamily="18" charset="0"/>
                <a:ea typeface="MS Mincho" panose="02020609040205080304" pitchFamily="49" charset="-128"/>
              </a:rPr>
              <a:t>), kategorik değişkenlere ve modelin anlayabileceği ayrık öğelere sayısal değerler verilmesine yardımcı olur. Model, bu gömmeleri kullanır ve kategoriler arasındaki ilişkileri anlamak için bunların boyutlarını eşit şekilde ayarlar. Son beş şehri ve ülkelerini tutan gecikme özellikleri (</a:t>
            </a:r>
            <a:r>
              <a:rPr lang="tr-TR" sz="1800" spc="-5" dirty="0" err="1">
                <a:effectLst/>
                <a:latin typeface="Times New Roman" panose="02020603050405020304" pitchFamily="18" charset="0"/>
                <a:ea typeface="MS Mincho" panose="02020609040205080304" pitchFamily="49" charset="-128"/>
              </a:rPr>
              <a:t>ing</a:t>
            </a:r>
            <a:r>
              <a:rPr lang="tr-TR" sz="1800" spc="-5" dirty="0">
                <a:effectLst/>
                <a:latin typeface="Times New Roman" panose="02020603050405020304" pitchFamily="18" charset="0"/>
                <a:ea typeface="MS Mincho" panose="02020609040205080304" pitchFamily="49" charset="-128"/>
              </a:rPr>
              <a:t>: </a:t>
            </a:r>
            <a:r>
              <a:rPr lang="tr-TR" sz="1800" spc="-5" dirty="0" err="1">
                <a:effectLst/>
                <a:latin typeface="Times New Roman" panose="02020603050405020304" pitchFamily="18" charset="0"/>
                <a:ea typeface="MS Mincho" panose="02020609040205080304" pitchFamily="49" charset="-128"/>
              </a:rPr>
              <a:t>lag</a:t>
            </a:r>
            <a:r>
              <a:rPr lang="tr-TR" sz="1800" spc="-5" dirty="0">
                <a:effectLst/>
                <a:latin typeface="Times New Roman" panose="02020603050405020304" pitchFamily="18" charset="0"/>
                <a:ea typeface="MS Mincho" panose="02020609040205080304" pitchFamily="49" charset="-128"/>
              </a:rPr>
              <a:t> </a:t>
            </a:r>
            <a:r>
              <a:rPr lang="tr-TR" sz="1800" spc="-5" dirty="0" err="1">
                <a:effectLst/>
                <a:latin typeface="Times New Roman" panose="02020603050405020304" pitchFamily="18" charset="0"/>
                <a:ea typeface="MS Mincho" panose="02020609040205080304" pitchFamily="49" charset="-128"/>
              </a:rPr>
              <a:t>features</a:t>
            </a:r>
            <a:r>
              <a:rPr lang="tr-TR" sz="1800" spc="-5" dirty="0">
                <a:effectLst/>
                <a:latin typeface="Times New Roman" panose="02020603050405020304" pitchFamily="18" charset="0"/>
                <a:ea typeface="MS Mincho" panose="02020609040205080304" pitchFamily="49" charset="-128"/>
              </a:rPr>
              <a:t>) hem MLP ye </a:t>
            </a:r>
            <a:r>
              <a:rPr lang="tr-TR" sz="1800" spc="-5" dirty="0" err="1">
                <a:effectLst/>
                <a:latin typeface="Times New Roman" panose="02020603050405020304" pitchFamily="18" charset="0"/>
                <a:ea typeface="MS Mincho" panose="02020609040205080304" pitchFamily="49" charset="-128"/>
              </a:rPr>
              <a:t>input</a:t>
            </a:r>
            <a:r>
              <a:rPr lang="tr-TR" sz="1800" spc="-5" dirty="0">
                <a:effectLst/>
                <a:latin typeface="Times New Roman" panose="02020603050405020304" pitchFamily="18" charset="0"/>
                <a:ea typeface="MS Mincho" panose="02020609040205080304" pitchFamily="49" charset="-128"/>
              </a:rPr>
              <a:t> olurken hem de SMF e doğrudan girdi olarak verilir. Bu gecikme özellikleri, modelin son beş şehir ve ülkenin seyahat geçmişini hatırlamasına yardımcı olur. Son beş şehri ve ülkeyi tutmak, ziyaret edilen şehirlerin sırasına göre kalıpların (</a:t>
            </a:r>
            <a:r>
              <a:rPr lang="tr-TR" sz="1800" spc="-5" dirty="0" err="1">
                <a:effectLst/>
                <a:latin typeface="Times New Roman" panose="02020603050405020304" pitchFamily="18" charset="0"/>
                <a:ea typeface="MS Mincho" panose="02020609040205080304" pitchFamily="49" charset="-128"/>
              </a:rPr>
              <a:t>ing</a:t>
            </a:r>
            <a:r>
              <a:rPr lang="tr-TR" sz="1800" spc="-5" dirty="0">
                <a:effectLst/>
                <a:latin typeface="Times New Roman" panose="02020603050405020304" pitchFamily="18" charset="0"/>
                <a:ea typeface="MS Mincho" panose="02020609040205080304" pitchFamily="49" charset="-128"/>
              </a:rPr>
              <a:t>: </a:t>
            </a:r>
            <a:r>
              <a:rPr lang="tr-TR" sz="1800" spc="-5" dirty="0" err="1">
                <a:effectLst/>
                <a:latin typeface="Times New Roman" panose="02020603050405020304" pitchFamily="18" charset="0"/>
                <a:ea typeface="MS Mincho" panose="02020609040205080304" pitchFamily="49" charset="-128"/>
              </a:rPr>
              <a:t>patterns</a:t>
            </a:r>
            <a:r>
              <a:rPr lang="tr-TR" sz="1800" spc="-5" dirty="0">
                <a:effectLst/>
                <a:latin typeface="Times New Roman" panose="02020603050405020304" pitchFamily="18" charset="0"/>
                <a:ea typeface="MS Mincho" panose="02020609040205080304" pitchFamily="49" charset="-128"/>
              </a:rPr>
              <a:t>) öğrenilmesine yardımcı olur. Model tüm bu gömmeleri karıştırır fakat yine de gecikme özelliklerinin yardımıyla şehirlerin sırası korunur. Birleştirilen gömmeler bir dizi katmandan (FC </a:t>
            </a:r>
            <a:r>
              <a:rPr lang="tr-TR" sz="1800" spc="-5" dirty="0" err="1">
                <a:effectLst/>
                <a:latin typeface="Times New Roman" panose="02020603050405020304" pitchFamily="18" charset="0"/>
                <a:ea typeface="MS Mincho" panose="02020609040205080304" pitchFamily="49" charset="-128"/>
              </a:rPr>
              <a:t>Layer</a:t>
            </a:r>
            <a:r>
              <a:rPr lang="tr-TR" sz="1800" spc="-5" dirty="0">
                <a:effectLst/>
                <a:latin typeface="Times New Roman" panose="02020603050405020304" pitchFamily="18" charset="0"/>
                <a:ea typeface="MS Mincho" panose="02020609040205080304" pitchFamily="49" charset="-128"/>
              </a:rPr>
              <a:t>) geçer. Bu adımlar son seyahat oturumumuzun özetini oluşturmaya yardımcı olur (Trip </a:t>
            </a:r>
            <a:r>
              <a:rPr lang="tr-TR" sz="1800" spc="-5" dirty="0" err="1">
                <a:effectLst/>
                <a:latin typeface="Times New Roman" panose="02020603050405020304" pitchFamily="18" charset="0"/>
                <a:ea typeface="MS Mincho" panose="02020609040205080304" pitchFamily="49" charset="-128"/>
              </a:rPr>
              <a:t>Embedding</a:t>
            </a:r>
            <a:r>
              <a:rPr lang="tr-TR" sz="1800" spc="-5" dirty="0">
                <a:effectLst/>
                <a:latin typeface="Times New Roman" panose="02020603050405020304" pitchFamily="18" charset="0"/>
                <a:ea typeface="MS Mincho" panose="02020609040205080304" pitchFamily="49" charset="-128"/>
              </a:rPr>
              <a:t> vektörü). Oluşturulan özetlenmiş oturumla model, farklı şehirlere matris </a:t>
            </a:r>
            <a:r>
              <a:rPr lang="tr-TR" sz="1800" spc="-5" dirty="0" err="1">
                <a:effectLst/>
                <a:latin typeface="Times New Roman" panose="02020603050405020304" pitchFamily="18" charset="0"/>
                <a:ea typeface="MS Mincho" panose="02020609040205080304" pitchFamily="49" charset="-128"/>
              </a:rPr>
              <a:t>faktörizasyonu</a:t>
            </a:r>
            <a:r>
              <a:rPr lang="tr-TR" sz="1800" spc="-5" dirty="0">
                <a:effectLst/>
                <a:latin typeface="Times New Roman" panose="02020603050405020304" pitchFamily="18" charset="0"/>
                <a:ea typeface="MS Mincho" panose="02020609040205080304" pitchFamily="49" charset="-128"/>
              </a:rPr>
              <a:t> yardımıyla puanlar verir. Verilen bu puanlar seyahat geçmişimize dayanarak bir sonraki şehri önermeye yardımcı olur. En yüksek puana sahip ilk dört şehir öneri olarak sunulur, bir sonraki şehir önerilen dört şehrin arasındaysa öneri doğru olarak kabul edilir. </a:t>
            </a:r>
            <a:endParaRPr lang="en-US" sz="1800" spc="-5" dirty="0">
              <a:effectLst/>
              <a:latin typeface="Times New Roman" panose="02020603050405020304" pitchFamily="18" charset="0"/>
              <a:ea typeface="MS Mincho" panose="02020609040205080304" pitchFamily="49" charset="-128"/>
            </a:endParaRPr>
          </a:p>
          <a:p>
            <a:pPr marL="0" marR="0" lvl="0" indent="0" algn="l" defTabSz="914400" rtl="0" eaLnBrk="1" fontAlgn="auto" latinLnBrk="0" hangingPunct="1">
              <a:lnSpc>
                <a:spcPct val="115000"/>
              </a:lnSpc>
              <a:spcBef>
                <a:spcPts val="1500"/>
              </a:spcBef>
              <a:spcAft>
                <a:spcPts val="1500"/>
              </a:spcAft>
              <a:buClr>
                <a:schemeClr val="dk1"/>
              </a:buClr>
              <a:buSzPts val="1100"/>
              <a:buFont typeface="Arial"/>
              <a:buNone/>
              <a:tabLst/>
              <a:defRPr/>
            </a:pPr>
            <a:r>
              <a:rPr lang="tr" sz="1100" dirty="0">
                <a:solidFill>
                  <a:srgbClr val="0D0D0D"/>
                </a:solidFill>
                <a:latin typeface="Roboto"/>
                <a:ea typeface="Roboto"/>
                <a:cs typeface="Roboto"/>
                <a:sym typeface="Roboto"/>
              </a:rPr>
              <a:t>Mimari deneylerinde; en az etkiye sahip katmanı tespit etmek maksadıyla sırasıyla 2. ve 3. tam bağlı katman çıkarılmış, mevcut modele ayrı ayrı deneyler olmak üzere bir ve iki tam bağlı katman eklenmiş, Orta katman çıkarılarak GRU ve RNN entegrasyonu yapılmış ve sonuçları gözlemlenmiştir.</a:t>
            </a:r>
          </a:p>
          <a:p>
            <a:pPr marL="0" lvl="0" indent="0" algn="l" rtl="0">
              <a:lnSpc>
                <a:spcPct val="115000"/>
              </a:lnSpc>
              <a:spcBef>
                <a:spcPts val="1500"/>
              </a:spcBef>
              <a:spcAft>
                <a:spcPts val="1500"/>
              </a:spcAft>
              <a:buClr>
                <a:schemeClr val="dk1"/>
              </a:buClr>
              <a:buSzPts val="1100"/>
              <a:buFont typeface="Arial"/>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710608ddb0_0_8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710608ddb0_0_8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sz="1200" dirty="0">
                <a:solidFill>
                  <a:srgbClr val="0D0D0D"/>
                </a:solidFill>
                <a:latin typeface="Roboto"/>
                <a:ea typeface="Roboto"/>
                <a:cs typeface="Roboto"/>
                <a:sym typeface="Roboto"/>
              </a:rPr>
              <a:t>Model, seyahatimizle ilgili bilgileri alır; kaldığımız şehirler, oteller, varış ve ayrılış tarihleri gibi Gömme (embedding) teknikleri, modelin anlayabileceği kategorik değişkenlere veya kesikli öğelere sayısal değerler atamaya yardımcı olur. Model, bu gömme tekniklerini kullanır ve kategoriler arasındaki ilişkileri anlamak için boyutlarını eşit olarak ayarlar. Ardından, her iki tür özellikten gelen gömme vektörlerini birleştirir. Son beş şehir ve ülkeyi içeren gecikme özellikleri, modelin son beş şehir ve ülke seyahat geçmiğini hatırlamasına yardımcı olmak için doğrudan bir gömme tablosu olarak kullanılır. Son beş şehir ve ülkenin tutulması, ziyaret edilen şehirlerin sırasındaki desenleri öğrenmeye yardımcı olur. Model, tüm bu gömme vektörlerini karıştırır, ancak hala şehirlerin sırasını gecikme özellikleri ile düzenler. Karışık gömme vektörleri bir dizi katmanın içinden geçer. Bu adımlar, son seyahat oturumumuzun özetini oluşturmaya yardımcı olur. Bu özetlenmiş oturum, farklı şehirlere puanlar verir. Bu puanlar, seyahat geçmişimize dayanarak ziyaret edilecek sonraki şehri önermeye yardımcı olur. Model, veriden karmaşık desenler elde etmek için toplu normalleştirme, aktivasyon fonksiyonları ve bırakma gibi üç doğrusal katman kullanır. Doğruluk metriği olarak Precision@4 kullanılır. Model, şehirlere puanlar verir ve eğer bir sonraki şehir en yüksek puan alan dört şehir arasındaysa doğru olarak değerlendirilir. Mevcut modelde 5-kat çapraz doğrulama kullanılır. Çapraz doğrulama, bir modeli eğitmeye yardımcı olan bir yöntemdir. Veri, beş bölüme bölünmüştür ve bunlara katlar denir. Her kat bir kez doğrulama veri kümesi olarak kullanılır. Geri kalan katlar eğitim için kullanılır. Verinin %80'i eğitimde, %20'si doğrulamada kullanılır. Bu süreç beş kez tekrarlanır. Skor, tüm katların sonuçlarının ortalaması alınarak hesaplanır.</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710608ddb0_0_7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710608ddb0_0_7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500"/>
              </a:spcBef>
              <a:spcAft>
                <a:spcPts val="0"/>
              </a:spcAft>
              <a:buClr>
                <a:schemeClr val="dk1"/>
              </a:buClr>
              <a:buSzPts val="1100"/>
              <a:buFont typeface="Arial"/>
              <a:buNone/>
            </a:pPr>
            <a:r>
              <a:rPr lang="tr" sz="1200" dirty="0">
                <a:solidFill>
                  <a:srgbClr val="0D0D0D"/>
                </a:solidFill>
                <a:latin typeface="Roboto"/>
                <a:ea typeface="Roboto"/>
                <a:cs typeface="Roboto"/>
                <a:sym typeface="Roboto"/>
              </a:rPr>
              <a:t>Hiperparametre ayarlaması için, wandb platformu kullanılarak bir yaml uzantılı dosya içerisinde parametrelerin değer aralıkları belirlenmiş ve hiperparametre deneyleri yapılmıştır. </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710608ddb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710608ddb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75000"/>
              </a:lnSpc>
              <a:spcBef>
                <a:spcPts val="0"/>
              </a:spcBef>
              <a:spcAft>
                <a:spcPts val="0"/>
              </a:spcAft>
              <a:buClr>
                <a:schemeClr val="dk1"/>
              </a:buClr>
              <a:buSzPts val="1100"/>
              <a:buFont typeface="Arial"/>
              <a:buNone/>
            </a:pPr>
            <a:r>
              <a:rPr lang="tr" dirty="0"/>
              <a:t>Deneysel sonuçlar; veri deneyleri model ve mimari deneyleri, hiperparametre ayarlama deneyleri olmak üzere üç kısımda incelenmiştir. Deneylerin sonuçlarına göre, veri arttırma ve mimari deneylerinin gerçekleştirildiği süreçlerde bir dizi bulgu elde edilmiştir. </a:t>
            </a:r>
            <a:endParaRPr dirty="0"/>
          </a:p>
          <a:p>
            <a:pPr marL="0" lvl="0" indent="0" algn="l" rtl="0">
              <a:lnSpc>
                <a:spcPct val="175000"/>
              </a:lnSpc>
              <a:spcBef>
                <a:spcPts val="1500"/>
              </a:spcBef>
              <a:spcAft>
                <a:spcPts val="0"/>
              </a:spcAft>
              <a:buClr>
                <a:schemeClr val="dk1"/>
              </a:buClr>
              <a:buSzPts val="1100"/>
              <a:buFont typeface="Arial"/>
              <a:buNone/>
            </a:pPr>
            <a:endParaRPr dirty="0"/>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710608ddb0_0_8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710608ddb0_0_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75000"/>
              </a:lnSpc>
              <a:spcBef>
                <a:spcPts val="0"/>
              </a:spcBef>
              <a:spcAft>
                <a:spcPts val="1500"/>
              </a:spcAft>
              <a:buClr>
                <a:schemeClr val="dk1"/>
              </a:buClr>
              <a:buSzPts val="1100"/>
              <a:buFont typeface="Arial"/>
              <a:buNone/>
            </a:pPr>
            <a:r>
              <a:rPr lang="tr" dirty="0">
                <a:solidFill>
                  <a:schemeClr val="dk1"/>
                </a:solidFill>
              </a:rPr>
              <a:t>Üç kez aynı işlemin  yinelenmesi ile elde edilen arttırılmış ayrı veri setleri kullanılarak yapılan deneylerde, beklenenin aksine başarı düşmüş ve çalışma süresi artmıştır. İlk iterasyon sonucunda elde edilen arttırılmış veriyle başarı 0.554759'a, ikinci iterasyonda elde edilen veriyle 0.548075'e ve üçüncü iterasyonda elde edilen arttırılmış veriyle yapılan deneyde ise 0.545146'ya düşmüştür. Ayrıca, çalışma zamanı her üç veri setiyle yapılan deneyde de artış göstermiştir.</a:t>
            </a:r>
            <a:endParaRPr dirty="0">
              <a:solidFill>
                <a:srgbClr val="FF0000"/>
              </a:solidFill>
              <a:highlight>
                <a:srgbClr val="FF0000"/>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710608ddb0_0_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710608ddb0_0_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75000"/>
              </a:lnSpc>
              <a:spcBef>
                <a:spcPts val="1500"/>
              </a:spcBef>
              <a:spcAft>
                <a:spcPts val="1500"/>
              </a:spcAft>
              <a:buClr>
                <a:schemeClr val="dk1"/>
              </a:buClr>
              <a:buSzPts val="11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710608ddb0_0_7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710608ddb0_0_7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75000"/>
              </a:lnSpc>
              <a:spcBef>
                <a:spcPts val="1500"/>
              </a:spcBef>
              <a:spcAft>
                <a:spcPts val="1500"/>
              </a:spcAft>
              <a:buClr>
                <a:schemeClr val="dk1"/>
              </a:buClr>
              <a:buSzPts val="1100"/>
              <a:buFont typeface="Arial"/>
              <a:buNone/>
            </a:pPr>
            <a:r>
              <a:rPr lang="tr">
                <a:solidFill>
                  <a:schemeClr val="dk1"/>
                </a:solidFill>
              </a:rPr>
              <a:t>Mimari deneylerinde, orijinal modele katman eklenmiş/çıkarılmış, çıkarılan katmanların yerine basit RNN ve GRU modelleri yerleştirilerek modelin performansı gözlemlenmiştir. Tabloda tüm mimari çalışmalarının modele etkisi skor, çalışma zamanı, eğitim kaybı ve validasyon kaybı değerleriyle karşılaştırılmıştır. En iyi sonuçların +1 FC katman ile elde edildiği belirlenmiş ve hiperparametre çalışmaları bu model üzerinde yapılmıştır.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710608ddb0_0_7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710608ddb0_0_7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sz="1200">
                <a:solidFill>
                  <a:srgbClr val="0D0D0D"/>
                </a:solidFill>
              </a:rPr>
              <a:t>Veri ve model deneylerinin sonuçları bulunduktan sonra, hiperparametre ayarlama deneyleri gerçekleştirilmiştir. Bu deneylerde orijinal veri ve 1 FC Katman eklenmiş model kullanılmıştır.Tabloda hiperparametre ayarlama deneylerinin en iyi sonuçları görülebilir. 12 epok, 0.1688 dropout, öğrenme oranı olarak 0.00023358, optimizer olarak Adadelta ve loss fonksiyonu olarak BCEWithLogitsLoss kullanılarak en iyi skor verilmiştir. Başarı 0.568032’ye yükseldiği görülmüştür.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710608ddb0_0_7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710608ddb0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75000"/>
              </a:lnSpc>
              <a:spcBef>
                <a:spcPts val="0"/>
              </a:spcBef>
              <a:spcAft>
                <a:spcPts val="0"/>
              </a:spcAft>
              <a:buClr>
                <a:schemeClr val="dk1"/>
              </a:buClr>
              <a:buSzPts val="1100"/>
              <a:buFont typeface="Arial"/>
              <a:buNone/>
            </a:pPr>
            <a:r>
              <a:rPr lang="tr" dirty="0"/>
              <a:t>Şekil, hiperparametre ayarlama deneylerinin genelini göstermektedir. Y ekseninde skor değeri, X ekseninde ise yapılan deneylerin sırasını temsil eden çalıştırma indeksi bulunmaktadır. Her nokta bir deneyi temsil etmektedir. Deneylerin genel dağılımı 0,56'nın üzerindedir.</a:t>
            </a:r>
            <a:endParaRPr dirty="0"/>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710608ddb0_0_8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710608ddb0_0_8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 sz="1200">
                <a:solidFill>
                  <a:srgbClr val="0D0D0D"/>
                </a:solidFill>
                <a:latin typeface="Roboto"/>
                <a:ea typeface="Roboto"/>
                <a:cs typeface="Roboto"/>
                <a:sym typeface="Roboto"/>
              </a:rPr>
              <a:t>Bu Şekil de hiperparametre ayarlama deneylerinin genelini göstermektedir. X ekseni, hiperparametre ayarlama yaml dosyasında kullanılan parametreleri gösterirken, y ekseni bu parametrelere verilen değerleri gösterir. Her çizgi belirli bir çalıştırmayı temsil eder. Çizgiler, kullandıkları parametre değerlerini ziyaret eder.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710608ddb0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710608ddb0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75000"/>
              </a:lnSpc>
              <a:spcBef>
                <a:spcPts val="0"/>
              </a:spcBef>
              <a:spcAft>
                <a:spcPts val="0"/>
              </a:spcAft>
              <a:buClr>
                <a:schemeClr val="dk1"/>
              </a:buClr>
              <a:buSzPts val="1100"/>
              <a:buFont typeface="Arial"/>
              <a:buNone/>
            </a:pPr>
            <a:r>
              <a:rPr lang="tr" dirty="0"/>
              <a:t>Özetle; bu çalışmada, bir derin öğrenme tabanlı tavsiye sistemi üzerinde çeşitli yapılandırmalarla yapılan deneylerin sonuçları detaylı bir şekilde incelenmiştir. Veri arttırımı, 4-10 arası şehir gezilerine odaklanılarak gerçekleştirilmiştir. Her yinelemede, altı veya daha fazla şehir içeren seyahatlerin başlangıcından ve sonundan birer şehir çıkarılarak yeni seyahatler oluşturulmuş ve veri setine eklenmiştir. Ancak, deneyler sonucunda veri miktarının artmasıyla modelin performansının düştüğü gözlemlenmiştir. Bu performans düşüşünün, daha karmaşık ve çeşitli veri setlerinin modelin hedef sayısını artırmış olması ve hedeflerin dengesiz dağılımından,  kaynaklanabileceği değerlendirilmektedir.</a:t>
            </a:r>
            <a:endParaRPr dirty="0"/>
          </a:p>
          <a:p>
            <a:pPr marL="0" lvl="0" indent="0" algn="l" rtl="0">
              <a:lnSpc>
                <a:spcPct val="175000"/>
              </a:lnSpc>
              <a:spcBef>
                <a:spcPts val="1500"/>
              </a:spcBef>
              <a:spcAft>
                <a:spcPts val="0"/>
              </a:spcAft>
              <a:buClr>
                <a:schemeClr val="dk1"/>
              </a:buClr>
              <a:buSzPts val="1100"/>
              <a:buFont typeface="Arial"/>
              <a:buNone/>
            </a:pPr>
            <a:r>
              <a:rPr lang="tr" dirty="0"/>
              <a:t>Mimari deneylerde, başlangıç modeli üç katmanlı bir algılayıcı yapıya sahiptir ve bu yapı deneyler boyunca değiştirilerek sistemin performansı ölçülmüştür. İlk olarak, orta ve üçüncü katmanların kaldırılmasının etkileri değerlendirilmiştir. Katmanların azaltılması modelin performansını olumsuz etkilemiş, özellikle üçüncü katmanın çıkarılması daha belirgin bir düşüşe neden olmuştur. Daha sonra, model üzerinde etkisi daha az olduğu tespit edilen ikinci katmanın yerine GRU ve basit RNN katmanları eklenmiş ve bu deneyler sonucunda GRU'nun modelin performansını artırdığı ancak çalışma süresini önemli ölçüde arttırdığı görülmüştür. Basit RNN eklenmesi ise performansı düşürmüş ve çalışma süresini artırmıştır.</a:t>
            </a:r>
            <a:endParaRPr dirty="0"/>
          </a:p>
          <a:p>
            <a:pPr marL="0" lvl="0" indent="0" algn="l" rtl="0">
              <a:lnSpc>
                <a:spcPct val="175000"/>
              </a:lnSpc>
              <a:spcBef>
                <a:spcPts val="1500"/>
              </a:spcBef>
              <a:spcAft>
                <a:spcPts val="0"/>
              </a:spcAft>
              <a:buClr>
                <a:schemeClr val="dk1"/>
              </a:buClr>
              <a:buSzPts val="1100"/>
              <a:buFont typeface="Arial"/>
              <a:buNone/>
            </a:pPr>
            <a:r>
              <a:rPr lang="tr" dirty="0"/>
              <a:t>Hiperparametre ayarlama deneylerinde ise, birçok faktörün modelin performansını etkilediği gözlemlenmiştir. En iyi sonuçlar, orta düzeyde bir bırakma oranı, epok sayısı ve öğrenme oranı ile elde edilmiştir. Ayrıca, Adadelta gibi bazı iyileştiricilerin bu veri kümesi ve model mimarisi için diğerlerinden daha etkili olduğu görülmüştür.</a:t>
            </a:r>
            <a:endParaRPr dirty="0"/>
          </a:p>
          <a:p>
            <a:pPr marL="0" lvl="0" indent="0" algn="l" rtl="0">
              <a:lnSpc>
                <a:spcPct val="175000"/>
              </a:lnSpc>
              <a:spcBef>
                <a:spcPts val="1500"/>
              </a:spcBef>
              <a:spcAft>
                <a:spcPts val="0"/>
              </a:spcAft>
              <a:buClr>
                <a:schemeClr val="dk1"/>
              </a:buClr>
              <a:buSzPts val="1100"/>
              <a:buFont typeface="Arial"/>
              <a:buNone/>
            </a:pPr>
            <a:r>
              <a:rPr lang="tr" dirty="0"/>
              <a:t>Sonuç olarak, bu çalışma öneri sistemlerinin karmaşık yapısını ve performansını iyileştirmek için farklı yapılandırmaların ve hiperparametrelerin nasıl etkili olabileceğini göstermektedir. Özellikle, veri arttırma tekniklerinin, mimari değişikliklerin ve modelin parametrelerinin dikkatle seçilmesi ve uygulanması, tavsiye sistemlerinin daha etkili hale gelmesine katkı sağlayabilir.</a:t>
            </a:r>
            <a:endParaRPr dirty="0"/>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710608ddb0_0_8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710608ddb0_0_8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t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804850" y="1444250"/>
            <a:ext cx="3706200" cy="153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tr" sz="2880" b="1" dirty="0">
                <a:latin typeface="Times New Roman"/>
                <a:ea typeface="Times New Roman"/>
                <a:cs typeface="Times New Roman"/>
                <a:sym typeface="Times New Roman"/>
              </a:rPr>
              <a:t>Derin Öğrenme Tabanlı Öneri Sistemi ile Seyahat Önerilerinin Geliştirilmesi </a:t>
            </a:r>
            <a:endParaRPr sz="2880" b="1" dirty="0">
              <a:latin typeface="Times New Roman"/>
              <a:ea typeface="Times New Roman"/>
              <a:cs typeface="Times New Roman"/>
              <a:sym typeface="Times New Roman"/>
            </a:endParaRPr>
          </a:p>
        </p:txBody>
      </p:sp>
      <p:sp>
        <p:nvSpPr>
          <p:cNvPr id="63" name="Google Shape;63;p13"/>
          <p:cNvSpPr txBox="1">
            <a:spLocks noGrp="1"/>
          </p:cNvSpPr>
          <p:nvPr>
            <p:ph type="subTitle" idx="1"/>
          </p:nvPr>
        </p:nvSpPr>
        <p:spPr>
          <a:xfrm>
            <a:off x="3091325" y="3435155"/>
            <a:ext cx="3054600" cy="7014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0"/>
              </a:spcAft>
              <a:buNone/>
            </a:pPr>
            <a:r>
              <a:rPr lang="tr">
                <a:latin typeface="Times New Roman"/>
                <a:ea typeface="Times New Roman"/>
                <a:cs typeface="Times New Roman"/>
                <a:sym typeface="Times New Roman"/>
              </a:rPr>
              <a:t>Necati ERKAL</a:t>
            </a:r>
            <a:endParaRPr>
              <a:latin typeface="Times New Roman"/>
              <a:ea typeface="Times New Roman"/>
              <a:cs typeface="Times New Roman"/>
              <a:sym typeface="Times New Roman"/>
            </a:endParaRPr>
          </a:p>
          <a:p>
            <a:pPr marL="0" lvl="0" indent="0" algn="ctr" rtl="0">
              <a:spcBef>
                <a:spcPts val="0"/>
              </a:spcBef>
              <a:spcAft>
                <a:spcPts val="0"/>
              </a:spcAft>
              <a:buNone/>
            </a:pPr>
            <a:r>
              <a:rPr lang="tr">
                <a:latin typeface="Times New Roman"/>
                <a:ea typeface="Times New Roman"/>
                <a:cs typeface="Times New Roman"/>
                <a:sym typeface="Times New Roman"/>
              </a:rPr>
              <a:t>Ayşe Nurdan SARAN</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sz="3000" b="1" dirty="0">
                <a:latin typeface="Times New Roman"/>
                <a:ea typeface="Times New Roman"/>
                <a:cs typeface="Times New Roman"/>
                <a:sym typeface="Times New Roman"/>
              </a:rPr>
              <a:t>İÇERİK</a:t>
            </a:r>
            <a:endParaRPr sz="3000" b="1" dirty="0">
              <a:latin typeface="Times New Roman"/>
              <a:ea typeface="Times New Roman"/>
              <a:cs typeface="Times New Roman"/>
              <a:sym typeface="Times New Roman"/>
            </a:endParaRPr>
          </a:p>
        </p:txBody>
      </p:sp>
      <p:sp>
        <p:nvSpPr>
          <p:cNvPr id="69" name="Google Shape;69;p1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indent="-381000">
              <a:buClr>
                <a:srgbClr val="0D0D0D"/>
              </a:buClr>
              <a:buSzPts val="2400"/>
            </a:pPr>
            <a:r>
              <a:rPr lang="en-GB" sz="2400" dirty="0">
                <a:solidFill>
                  <a:srgbClr val="0D0D0D"/>
                </a:solidFill>
                <a:highlight>
                  <a:srgbClr val="FFFFFF"/>
                </a:highlight>
                <a:latin typeface="Times New Roman"/>
                <a:ea typeface="Times New Roman"/>
                <a:cs typeface="Times New Roman"/>
                <a:sym typeface="Times New Roman"/>
              </a:rPr>
              <a:t>ÖNERİ SİSTEMLERİ</a:t>
            </a:r>
            <a:endParaRPr sz="2400" dirty="0">
              <a:solidFill>
                <a:srgbClr val="0D0D0D"/>
              </a:solidFill>
              <a:highlight>
                <a:srgbClr val="FFFFFF"/>
              </a:highlight>
              <a:latin typeface="Times New Roman"/>
              <a:ea typeface="Times New Roman"/>
              <a:cs typeface="Times New Roman"/>
              <a:sym typeface="Times New Roman"/>
            </a:endParaRPr>
          </a:p>
          <a:p>
            <a:pPr indent="-381000">
              <a:buClr>
                <a:srgbClr val="0D0D0D"/>
              </a:buClr>
              <a:buSzPts val="2400"/>
            </a:pPr>
            <a:r>
              <a:rPr lang="tr" sz="2400" dirty="0">
                <a:solidFill>
                  <a:srgbClr val="0D0D0D"/>
                </a:solidFill>
                <a:highlight>
                  <a:srgbClr val="FFFFFF"/>
                </a:highlight>
                <a:latin typeface="Times New Roman"/>
                <a:ea typeface="Times New Roman"/>
                <a:cs typeface="Times New Roman"/>
                <a:sym typeface="Times New Roman"/>
              </a:rPr>
              <a:t>OTURUM TABANLI MATRİS ÇARPANLARINA AYIRMA İLE ÇOK KATMANLI ALGILAYICI </a:t>
            </a:r>
            <a:endParaRPr sz="2400" dirty="0">
              <a:solidFill>
                <a:srgbClr val="0D0D0D"/>
              </a:solidFill>
              <a:highlight>
                <a:srgbClr val="FFFFFF"/>
              </a:highlight>
              <a:latin typeface="Times New Roman"/>
              <a:ea typeface="Times New Roman"/>
              <a:cs typeface="Times New Roman"/>
              <a:sym typeface="Times New Roman"/>
            </a:endParaRPr>
          </a:p>
          <a:p>
            <a:pPr indent="-381000">
              <a:buClr>
                <a:srgbClr val="0D0D0D"/>
              </a:buClr>
              <a:buSzPts val="2400"/>
            </a:pPr>
            <a:r>
              <a:rPr lang="tr" sz="2400" dirty="0">
                <a:solidFill>
                  <a:srgbClr val="0D0D0D"/>
                </a:solidFill>
                <a:highlight>
                  <a:srgbClr val="FFFFFF"/>
                </a:highlight>
                <a:latin typeface="Times New Roman"/>
                <a:ea typeface="Times New Roman"/>
                <a:cs typeface="Times New Roman"/>
                <a:sym typeface="Times New Roman"/>
              </a:rPr>
              <a:t>YÖNTEM</a:t>
            </a:r>
            <a:endParaRPr sz="2400" dirty="0">
              <a:solidFill>
                <a:srgbClr val="0D0D0D"/>
              </a:solidFill>
              <a:highlight>
                <a:srgbClr val="FFFFFF"/>
              </a:highlight>
              <a:latin typeface="Times New Roman"/>
              <a:ea typeface="Times New Roman"/>
              <a:cs typeface="Times New Roman"/>
              <a:sym typeface="Times New Roman"/>
            </a:endParaRPr>
          </a:p>
          <a:p>
            <a:pPr indent="-381000">
              <a:buClr>
                <a:srgbClr val="0D0D0D"/>
              </a:buClr>
              <a:buSzPts val="2400"/>
            </a:pPr>
            <a:r>
              <a:rPr lang="tr" sz="2400" dirty="0">
                <a:solidFill>
                  <a:srgbClr val="0D0D0D"/>
                </a:solidFill>
                <a:highlight>
                  <a:srgbClr val="FFFFFF"/>
                </a:highlight>
                <a:latin typeface="Times New Roman"/>
                <a:ea typeface="Times New Roman"/>
                <a:cs typeface="Times New Roman"/>
                <a:sym typeface="Times New Roman"/>
              </a:rPr>
              <a:t>DENEYSEL SONUÇLAR</a:t>
            </a:r>
            <a:endParaRPr sz="2400" dirty="0">
              <a:solidFill>
                <a:srgbClr val="0D0D0D"/>
              </a:solidFill>
              <a:highlight>
                <a:srgbClr val="FFFFFF"/>
              </a:highlight>
              <a:latin typeface="Times New Roman"/>
              <a:ea typeface="Times New Roman"/>
              <a:cs typeface="Times New Roman"/>
              <a:sym typeface="Times New Roman"/>
            </a:endParaRPr>
          </a:p>
          <a:p>
            <a:pPr indent="-381000">
              <a:buClr>
                <a:srgbClr val="0D0D0D"/>
              </a:buClr>
              <a:buSzPts val="2400"/>
            </a:pPr>
            <a:r>
              <a:rPr lang="tr" sz="2400" dirty="0">
                <a:solidFill>
                  <a:srgbClr val="0D0D0D"/>
                </a:solidFill>
                <a:highlight>
                  <a:srgbClr val="FFFFFF"/>
                </a:highlight>
                <a:latin typeface="Times New Roman"/>
                <a:ea typeface="Times New Roman"/>
                <a:cs typeface="Times New Roman"/>
                <a:sym typeface="Times New Roman"/>
              </a:rPr>
              <a:t>SONUÇLAR</a:t>
            </a:r>
            <a:endParaRPr sz="2400" dirty="0">
              <a:solidFill>
                <a:srgbClr val="0D0D0D"/>
              </a:solidFill>
              <a:highlight>
                <a:srgbClr val="FFFFFF"/>
              </a:highlight>
              <a:latin typeface="Times New Roman"/>
              <a:ea typeface="Times New Roman"/>
              <a:cs typeface="Times New Roman"/>
              <a:sym typeface="Times New Roman"/>
            </a:endParaRPr>
          </a:p>
          <a:p>
            <a:pPr marL="0" lvl="0" indent="0" algn="l" rtl="0">
              <a:spcBef>
                <a:spcPts val="0"/>
              </a:spcBef>
              <a:spcAft>
                <a:spcPts val="120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194600"/>
            <a:ext cx="8520600" cy="831300"/>
          </a:xfrm>
          <a:prstGeom prst="rect">
            <a:avLst/>
          </a:prstGeom>
        </p:spPr>
        <p:txBody>
          <a:bodyPr spcFirstLastPara="1" wrap="square" lIns="91425" tIns="91425" rIns="91425" bIns="91425" anchor="b" anchorCtr="0">
            <a:normAutofit/>
          </a:bodyPr>
          <a:lstStyle/>
          <a:p>
            <a:pPr marL="38100" lvl="0" algn="ctr" rtl="0">
              <a:lnSpc>
                <a:spcPct val="115000"/>
              </a:lnSpc>
              <a:spcBef>
                <a:spcPts val="0"/>
              </a:spcBef>
              <a:spcAft>
                <a:spcPts val="0"/>
              </a:spcAft>
              <a:buClr>
                <a:srgbClr val="0D0D0D"/>
              </a:buClr>
              <a:buSzPts val="3000"/>
            </a:pPr>
            <a:r>
              <a:rPr lang="en-GB" sz="3000" b="1" dirty="0">
                <a:latin typeface="Times New Roman"/>
                <a:ea typeface="Times New Roman"/>
                <a:cs typeface="Times New Roman"/>
                <a:sym typeface="Times New Roman"/>
              </a:rPr>
              <a:t>ÖNERİ SİSTEMLERİ</a:t>
            </a:r>
            <a:endParaRPr sz="3000" b="1" dirty="0">
              <a:latin typeface="Times New Roman"/>
              <a:ea typeface="Times New Roman"/>
              <a:cs typeface="Times New Roman"/>
              <a:sym typeface="Times New Roman"/>
            </a:endParaRPr>
          </a:p>
        </p:txBody>
      </p:sp>
      <p:pic>
        <p:nvPicPr>
          <p:cNvPr id="75" name="Google Shape;75;p15"/>
          <p:cNvPicPr preferRelativeResize="0"/>
          <p:nvPr/>
        </p:nvPicPr>
        <p:blipFill>
          <a:blip r:embed="rId3">
            <a:alphaModFix/>
          </a:blip>
          <a:stretch>
            <a:fillRect/>
          </a:stretch>
        </p:blipFill>
        <p:spPr>
          <a:xfrm>
            <a:off x="1630875" y="1025900"/>
            <a:ext cx="5941825" cy="3285050"/>
          </a:xfrm>
          <a:prstGeom prst="rect">
            <a:avLst/>
          </a:prstGeom>
          <a:noFill/>
          <a:ln>
            <a:noFill/>
          </a:ln>
        </p:spPr>
      </p:pic>
      <p:sp>
        <p:nvSpPr>
          <p:cNvPr id="76" name="Google Shape;76;p15"/>
          <p:cNvSpPr txBox="1"/>
          <p:nvPr/>
        </p:nvSpPr>
        <p:spPr>
          <a:xfrm>
            <a:off x="387750" y="4310950"/>
            <a:ext cx="7800900" cy="43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tr" sz="1200">
                <a:solidFill>
                  <a:schemeClr val="dk1"/>
                </a:solidFill>
                <a:latin typeface="Times New Roman"/>
                <a:ea typeface="Times New Roman"/>
                <a:cs typeface="Times New Roman"/>
                <a:sym typeface="Times New Roman"/>
              </a:rPr>
              <a:t>Kaynak : https://www.nvidia.com/en-us/glossary/recommendation-system/</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6"/>
          <p:cNvPicPr preferRelativeResize="0"/>
          <p:nvPr/>
        </p:nvPicPr>
        <p:blipFill>
          <a:blip r:embed="rId3">
            <a:alphaModFix/>
          </a:blip>
          <a:stretch>
            <a:fillRect/>
          </a:stretch>
        </p:blipFill>
        <p:spPr>
          <a:xfrm>
            <a:off x="500150" y="695675"/>
            <a:ext cx="3571300" cy="3467024"/>
          </a:xfrm>
          <a:prstGeom prst="rect">
            <a:avLst/>
          </a:prstGeom>
          <a:noFill/>
          <a:ln>
            <a:noFill/>
          </a:ln>
        </p:spPr>
      </p:pic>
      <p:pic>
        <p:nvPicPr>
          <p:cNvPr id="82" name="Google Shape;82;p16"/>
          <p:cNvPicPr preferRelativeResize="0"/>
          <p:nvPr/>
        </p:nvPicPr>
        <p:blipFill>
          <a:blip r:embed="rId4">
            <a:alphaModFix/>
          </a:blip>
          <a:stretch>
            <a:fillRect/>
          </a:stretch>
        </p:blipFill>
        <p:spPr>
          <a:xfrm>
            <a:off x="4755750" y="735600"/>
            <a:ext cx="3512651" cy="3467025"/>
          </a:xfrm>
          <a:prstGeom prst="rect">
            <a:avLst/>
          </a:prstGeom>
          <a:noFill/>
          <a:ln>
            <a:noFill/>
          </a:ln>
        </p:spPr>
      </p:pic>
      <p:sp>
        <p:nvSpPr>
          <p:cNvPr id="83" name="Google Shape;83;p16"/>
          <p:cNvSpPr txBox="1"/>
          <p:nvPr/>
        </p:nvSpPr>
        <p:spPr>
          <a:xfrm>
            <a:off x="387750" y="4470600"/>
            <a:ext cx="7800900" cy="43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tr" sz="1200" dirty="0">
                <a:solidFill>
                  <a:schemeClr val="dk1"/>
                </a:solidFill>
                <a:latin typeface="Times New Roman"/>
                <a:ea typeface="Times New Roman"/>
                <a:cs typeface="Times New Roman"/>
                <a:sym typeface="Times New Roman"/>
              </a:rPr>
              <a:t>Kaynak : https://www.nvidia.com/en-us/glossary/recommendation-system/</a:t>
            </a:r>
            <a:endParaRPr sz="1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315925"/>
            <a:ext cx="8602200" cy="13740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tr" sz="3000" b="1" dirty="0">
                <a:solidFill>
                  <a:srgbClr val="0D0D0D"/>
                </a:solidFill>
                <a:highlight>
                  <a:srgbClr val="FFFFFF"/>
                </a:highlight>
                <a:latin typeface="Times New Roman"/>
                <a:ea typeface="Times New Roman"/>
                <a:cs typeface="Times New Roman"/>
                <a:sym typeface="Times New Roman"/>
              </a:rPr>
              <a:t>OTURUM TABANLI MATRİS ÇARPANLARINA AYIRMA İLE ÇOK KATMANLI ALGILAYICI </a:t>
            </a:r>
            <a:endParaRPr sz="3000" b="1" dirty="0">
              <a:latin typeface="Times New Roman"/>
              <a:ea typeface="Times New Roman"/>
              <a:cs typeface="Times New Roman"/>
              <a:sym typeface="Times New Roman"/>
            </a:endParaRPr>
          </a:p>
        </p:txBody>
      </p:sp>
      <p:graphicFrame>
        <p:nvGraphicFramePr>
          <p:cNvPr id="89" name="Google Shape;89;p17"/>
          <p:cNvGraphicFramePr/>
          <p:nvPr/>
        </p:nvGraphicFramePr>
        <p:xfrm>
          <a:off x="581370" y="1943140"/>
          <a:ext cx="8246300" cy="2660625"/>
        </p:xfrm>
        <a:graphic>
          <a:graphicData uri="http://schemas.openxmlformats.org/drawingml/2006/table">
            <a:tbl>
              <a:tblPr>
                <a:noFill/>
                <a:tableStyleId>{51AB02EC-E335-4945-A716-73AA5839B56D}</a:tableStyleId>
              </a:tblPr>
              <a:tblGrid>
                <a:gridCol w="2061575">
                  <a:extLst>
                    <a:ext uri="{9D8B030D-6E8A-4147-A177-3AD203B41FA5}">
                      <a16:colId xmlns:a16="http://schemas.microsoft.com/office/drawing/2014/main" val="20000"/>
                    </a:ext>
                  </a:extLst>
                </a:gridCol>
                <a:gridCol w="2061575">
                  <a:extLst>
                    <a:ext uri="{9D8B030D-6E8A-4147-A177-3AD203B41FA5}">
                      <a16:colId xmlns:a16="http://schemas.microsoft.com/office/drawing/2014/main" val="20001"/>
                    </a:ext>
                  </a:extLst>
                </a:gridCol>
                <a:gridCol w="2061575">
                  <a:extLst>
                    <a:ext uri="{9D8B030D-6E8A-4147-A177-3AD203B41FA5}">
                      <a16:colId xmlns:a16="http://schemas.microsoft.com/office/drawing/2014/main" val="20002"/>
                    </a:ext>
                  </a:extLst>
                </a:gridCol>
                <a:gridCol w="2061575">
                  <a:extLst>
                    <a:ext uri="{9D8B030D-6E8A-4147-A177-3AD203B41FA5}">
                      <a16:colId xmlns:a16="http://schemas.microsoft.com/office/drawing/2014/main" val="20003"/>
                    </a:ext>
                  </a:extLst>
                </a:gridCol>
              </a:tblGrid>
              <a:tr h="220100">
                <a:tc>
                  <a:txBody>
                    <a:bodyPr/>
                    <a:lstStyle/>
                    <a:p>
                      <a:pPr marL="0" marR="0" lvl="0" indent="0" algn="l" rtl="0">
                        <a:spcBef>
                          <a:spcPts val="0"/>
                        </a:spcBef>
                        <a:spcAft>
                          <a:spcPts val="0"/>
                        </a:spcAft>
                        <a:buNone/>
                      </a:pPr>
                      <a:r>
                        <a:rPr lang="tr" sz="2400" u="none" strike="noStrike" cap="none"/>
                        <a:t> </a:t>
                      </a:r>
                      <a:endParaRPr sz="2400" b="0" i="0" u="none" strike="noStrike" cap="none">
                        <a:solidFill>
                          <a:srgbClr val="000000"/>
                        </a:solidFill>
                        <a:latin typeface="Calibri"/>
                        <a:ea typeface="Calibri"/>
                        <a:cs typeface="Calibri"/>
                        <a:sym typeface="Calibri"/>
                      </a:endParaRPr>
                    </a:p>
                  </a:txBody>
                  <a:tcPr marL="9525" marR="9525" marT="9525" marB="0" anchor="b">
                    <a:solidFill>
                      <a:srgbClr val="BFBFBF"/>
                    </a:solidFill>
                  </a:tcPr>
                </a:tc>
                <a:tc gridSpan="3">
                  <a:txBody>
                    <a:bodyPr/>
                    <a:lstStyle/>
                    <a:p>
                      <a:pPr marL="0" marR="0" lvl="0" indent="0" algn="ctr" rtl="0">
                        <a:spcBef>
                          <a:spcPts val="0"/>
                        </a:spcBef>
                        <a:spcAft>
                          <a:spcPts val="0"/>
                        </a:spcAft>
                        <a:buNone/>
                      </a:pPr>
                      <a:r>
                        <a:rPr lang="tr" sz="2400" u="sng">
                          <a:solidFill>
                            <a:srgbClr val="00B0F0"/>
                          </a:solidFill>
                        </a:rPr>
                        <a:t>Film</a:t>
                      </a:r>
                      <a:endParaRPr sz="2400" b="1" i="0" u="sng" strike="noStrike" cap="none">
                        <a:solidFill>
                          <a:srgbClr val="00B0F0"/>
                        </a:solidFill>
                        <a:latin typeface="Times New Roman"/>
                        <a:ea typeface="Times New Roman"/>
                        <a:cs typeface="Times New Roman"/>
                        <a:sym typeface="Times New Roman"/>
                      </a:endParaRPr>
                    </a:p>
                  </a:txBody>
                  <a:tcPr marL="9525" marR="9525" marT="9525" marB="0" anchor="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0100">
                <a:tc>
                  <a:txBody>
                    <a:bodyPr/>
                    <a:lstStyle/>
                    <a:p>
                      <a:pPr marL="0" marR="0" lvl="0" indent="0" algn="ctr" rtl="0">
                        <a:spcBef>
                          <a:spcPts val="0"/>
                        </a:spcBef>
                        <a:spcAft>
                          <a:spcPts val="0"/>
                        </a:spcAft>
                        <a:buNone/>
                      </a:pPr>
                      <a:r>
                        <a:rPr lang="tr" sz="2400" u="sng">
                          <a:solidFill>
                            <a:srgbClr val="00B0F0"/>
                          </a:solidFill>
                        </a:rPr>
                        <a:t>Kullanıcı</a:t>
                      </a:r>
                      <a:endParaRPr sz="2400" b="1" i="0" u="sng" strike="noStrike" cap="none">
                        <a:solidFill>
                          <a:srgbClr val="00B0F0"/>
                        </a:solidFill>
                        <a:latin typeface="Times New Roman"/>
                        <a:ea typeface="Times New Roman"/>
                        <a:cs typeface="Times New Roman"/>
                        <a:sym typeface="Times New Roman"/>
                      </a:endParaRPr>
                    </a:p>
                  </a:txBody>
                  <a:tcPr marL="9525" marR="9525" marT="9525" marB="0" anchor="b">
                    <a:solidFill>
                      <a:srgbClr val="BFBFBF"/>
                    </a:solidFill>
                  </a:tcPr>
                </a:tc>
                <a:tc>
                  <a:txBody>
                    <a:bodyPr/>
                    <a:lstStyle/>
                    <a:p>
                      <a:pPr marL="0" marR="0" lvl="0" indent="0" algn="ctr" rtl="0">
                        <a:spcBef>
                          <a:spcPts val="0"/>
                        </a:spcBef>
                        <a:spcAft>
                          <a:spcPts val="0"/>
                        </a:spcAft>
                        <a:buNone/>
                      </a:pPr>
                      <a:r>
                        <a:rPr lang="tr" sz="2400" u="none" strike="noStrike" cap="none">
                          <a:solidFill>
                            <a:srgbClr val="00B0F0"/>
                          </a:solidFill>
                        </a:rPr>
                        <a:t>1</a:t>
                      </a:r>
                      <a:endParaRPr sz="2400" b="1" i="0" u="none" strike="noStrike" cap="none">
                        <a:solidFill>
                          <a:srgbClr val="00B0F0"/>
                        </a:solidFill>
                        <a:latin typeface="Times New Roman"/>
                        <a:ea typeface="Times New Roman"/>
                        <a:cs typeface="Times New Roman"/>
                        <a:sym typeface="Times New Roman"/>
                      </a:endParaRPr>
                    </a:p>
                  </a:txBody>
                  <a:tcPr marL="9525" marR="9525" marT="9525" marB="0" anchor="b">
                    <a:solidFill>
                      <a:srgbClr val="BFBFBF"/>
                    </a:solidFill>
                  </a:tcPr>
                </a:tc>
                <a:tc>
                  <a:txBody>
                    <a:bodyPr/>
                    <a:lstStyle/>
                    <a:p>
                      <a:pPr marL="0" marR="0" lvl="0" indent="0" algn="ctr" rtl="0">
                        <a:spcBef>
                          <a:spcPts val="0"/>
                        </a:spcBef>
                        <a:spcAft>
                          <a:spcPts val="0"/>
                        </a:spcAft>
                        <a:buNone/>
                      </a:pPr>
                      <a:r>
                        <a:rPr lang="tr" sz="2400" u="none" strike="noStrike" cap="none">
                          <a:solidFill>
                            <a:srgbClr val="00B0F0"/>
                          </a:solidFill>
                        </a:rPr>
                        <a:t>2</a:t>
                      </a:r>
                      <a:endParaRPr sz="2400" b="1" i="0" u="none" strike="noStrike" cap="none">
                        <a:solidFill>
                          <a:srgbClr val="00B0F0"/>
                        </a:solidFill>
                        <a:latin typeface="Times New Roman"/>
                        <a:ea typeface="Times New Roman"/>
                        <a:cs typeface="Times New Roman"/>
                        <a:sym typeface="Times New Roman"/>
                      </a:endParaRPr>
                    </a:p>
                  </a:txBody>
                  <a:tcPr marL="9525" marR="9525" marT="9525" marB="0" anchor="b">
                    <a:solidFill>
                      <a:srgbClr val="BFBFBF"/>
                    </a:solidFill>
                  </a:tcPr>
                </a:tc>
                <a:tc>
                  <a:txBody>
                    <a:bodyPr/>
                    <a:lstStyle/>
                    <a:p>
                      <a:pPr marL="0" marR="0" lvl="0" indent="0" algn="ctr" rtl="0">
                        <a:spcBef>
                          <a:spcPts val="0"/>
                        </a:spcBef>
                        <a:spcAft>
                          <a:spcPts val="0"/>
                        </a:spcAft>
                        <a:buNone/>
                      </a:pPr>
                      <a:r>
                        <a:rPr lang="tr" sz="2400" u="none" strike="noStrike" cap="none">
                          <a:solidFill>
                            <a:srgbClr val="00B0F0"/>
                          </a:solidFill>
                        </a:rPr>
                        <a:t>3</a:t>
                      </a:r>
                      <a:endParaRPr sz="2400" b="1" i="0" u="none" strike="noStrike" cap="none">
                        <a:solidFill>
                          <a:srgbClr val="00B0F0"/>
                        </a:solidFill>
                        <a:latin typeface="Times New Roman"/>
                        <a:ea typeface="Times New Roman"/>
                        <a:cs typeface="Times New Roman"/>
                        <a:sym typeface="Times New Roman"/>
                      </a:endParaRPr>
                    </a:p>
                  </a:txBody>
                  <a:tcPr marL="9525" marR="9525" marT="9525" marB="0" anchor="b">
                    <a:solidFill>
                      <a:srgbClr val="BFBFBF"/>
                    </a:solidFill>
                  </a:tcPr>
                </a:tc>
                <a:extLst>
                  <a:ext uri="{0D108BD9-81ED-4DB2-BD59-A6C34878D82A}">
                    <a16:rowId xmlns:a16="http://schemas.microsoft.com/office/drawing/2014/main" val="10001"/>
                  </a:ext>
                </a:extLst>
              </a:tr>
              <a:tr h="220100">
                <a:tc>
                  <a:txBody>
                    <a:bodyPr/>
                    <a:lstStyle/>
                    <a:p>
                      <a:pPr marL="0" marR="0" lvl="0" indent="0" algn="ctr" rtl="0">
                        <a:spcBef>
                          <a:spcPts val="0"/>
                        </a:spcBef>
                        <a:spcAft>
                          <a:spcPts val="0"/>
                        </a:spcAft>
                        <a:buNone/>
                      </a:pPr>
                      <a:r>
                        <a:rPr lang="tr" sz="2400" u="none" strike="noStrike" cap="none">
                          <a:solidFill>
                            <a:srgbClr val="00B0F0"/>
                          </a:solidFill>
                        </a:rPr>
                        <a:t>A</a:t>
                      </a:r>
                      <a:endParaRPr sz="2400" b="1" i="0" u="none" strike="noStrike" cap="none">
                        <a:solidFill>
                          <a:srgbClr val="00B0F0"/>
                        </a:solidFill>
                        <a:latin typeface="Times New Roman"/>
                        <a:ea typeface="Times New Roman"/>
                        <a:cs typeface="Times New Roman"/>
                        <a:sym typeface="Times New Roman"/>
                      </a:endParaRPr>
                    </a:p>
                  </a:txBody>
                  <a:tcPr marL="9525" marR="9525" marT="9525" marB="0" anchor="b">
                    <a:solidFill>
                      <a:srgbClr val="BFBFBF"/>
                    </a:solidFill>
                  </a:tcPr>
                </a:tc>
                <a:tc>
                  <a:txBody>
                    <a:bodyPr/>
                    <a:lstStyle/>
                    <a:p>
                      <a:pPr marL="0" marR="0" lvl="0" indent="0" algn="ctr" rtl="0">
                        <a:spcBef>
                          <a:spcPts val="0"/>
                        </a:spcBef>
                        <a:spcAft>
                          <a:spcPts val="0"/>
                        </a:spcAft>
                        <a:buNone/>
                      </a:pPr>
                      <a:r>
                        <a:rPr lang="tr" sz="2400" u="none" strike="noStrike" cap="none"/>
                        <a:t>4</a:t>
                      </a:r>
                      <a:endParaRPr sz="2400" b="0" i="0" u="none" strike="noStrike" cap="none">
                        <a:solidFill>
                          <a:srgbClr val="000000"/>
                        </a:solidFill>
                        <a:latin typeface="Times New Roman"/>
                        <a:ea typeface="Times New Roman"/>
                        <a:cs typeface="Times New Roman"/>
                        <a:sym typeface="Times New Roman"/>
                      </a:endParaRPr>
                    </a:p>
                  </a:txBody>
                  <a:tcPr marL="9525" marR="9525" marT="9525" marB="0" anchor="b"/>
                </a:tc>
                <a:tc>
                  <a:txBody>
                    <a:bodyPr/>
                    <a:lstStyle/>
                    <a:p>
                      <a:pPr marL="0" marR="0" lvl="0" indent="0" algn="ctr" rtl="0">
                        <a:spcBef>
                          <a:spcPts val="0"/>
                        </a:spcBef>
                        <a:spcAft>
                          <a:spcPts val="0"/>
                        </a:spcAft>
                        <a:buNone/>
                      </a:pPr>
                      <a:r>
                        <a:rPr lang="tr" sz="2400" u="none" strike="noStrike" cap="none"/>
                        <a:t>5</a:t>
                      </a:r>
                      <a:endParaRPr sz="2400" b="0" i="0" u="none" strike="noStrike" cap="none">
                        <a:solidFill>
                          <a:srgbClr val="000000"/>
                        </a:solidFill>
                        <a:latin typeface="Times New Roman"/>
                        <a:ea typeface="Times New Roman"/>
                        <a:cs typeface="Times New Roman"/>
                        <a:sym typeface="Times New Roman"/>
                      </a:endParaRPr>
                    </a:p>
                  </a:txBody>
                  <a:tcPr marL="9525" marR="9525" marT="9525" marB="0" anchor="b"/>
                </a:tc>
                <a:tc>
                  <a:txBody>
                    <a:bodyPr/>
                    <a:lstStyle/>
                    <a:p>
                      <a:pPr marL="0" marR="0" lvl="0" indent="0" algn="ctr" rtl="0">
                        <a:spcBef>
                          <a:spcPts val="0"/>
                        </a:spcBef>
                        <a:spcAft>
                          <a:spcPts val="0"/>
                        </a:spcAft>
                        <a:buNone/>
                      </a:pPr>
                      <a:r>
                        <a:rPr lang="tr" sz="2400" u="none" strike="noStrike" cap="none"/>
                        <a:t>5</a:t>
                      </a:r>
                      <a:endParaRPr sz="2400" b="0" i="0" u="none" strike="noStrike" cap="none">
                        <a:solidFill>
                          <a:srgbClr val="000000"/>
                        </a:solidFill>
                        <a:latin typeface="Times New Roman"/>
                        <a:ea typeface="Times New Roman"/>
                        <a:cs typeface="Times New Roman"/>
                        <a:sym typeface="Times New Roman"/>
                      </a:endParaRPr>
                    </a:p>
                  </a:txBody>
                  <a:tcPr marL="9525" marR="9525" marT="9525" marB="0" anchor="b"/>
                </a:tc>
                <a:extLst>
                  <a:ext uri="{0D108BD9-81ED-4DB2-BD59-A6C34878D82A}">
                    <a16:rowId xmlns:a16="http://schemas.microsoft.com/office/drawing/2014/main" val="10002"/>
                  </a:ext>
                </a:extLst>
              </a:tr>
              <a:tr h="220100">
                <a:tc>
                  <a:txBody>
                    <a:bodyPr/>
                    <a:lstStyle/>
                    <a:p>
                      <a:pPr marL="0" marR="0" lvl="0" indent="0" algn="ctr" rtl="0">
                        <a:spcBef>
                          <a:spcPts val="0"/>
                        </a:spcBef>
                        <a:spcAft>
                          <a:spcPts val="0"/>
                        </a:spcAft>
                        <a:buNone/>
                      </a:pPr>
                      <a:r>
                        <a:rPr lang="tr" sz="2400" u="none" strike="noStrike" cap="none">
                          <a:solidFill>
                            <a:srgbClr val="00B0F0"/>
                          </a:solidFill>
                        </a:rPr>
                        <a:t>B</a:t>
                      </a:r>
                      <a:endParaRPr sz="2400" b="1" i="0" u="none" strike="noStrike" cap="none">
                        <a:solidFill>
                          <a:srgbClr val="00B0F0"/>
                        </a:solidFill>
                        <a:latin typeface="Times New Roman"/>
                        <a:ea typeface="Times New Roman"/>
                        <a:cs typeface="Times New Roman"/>
                        <a:sym typeface="Times New Roman"/>
                      </a:endParaRPr>
                    </a:p>
                  </a:txBody>
                  <a:tcPr marL="9525" marR="9525" marT="9525" marB="0" anchor="b">
                    <a:solidFill>
                      <a:srgbClr val="BFBFBF"/>
                    </a:solidFill>
                  </a:tcPr>
                </a:tc>
                <a:tc>
                  <a:txBody>
                    <a:bodyPr/>
                    <a:lstStyle/>
                    <a:p>
                      <a:pPr marL="0" marR="0" lvl="0" indent="0" algn="ctr" rtl="0">
                        <a:spcBef>
                          <a:spcPts val="0"/>
                        </a:spcBef>
                        <a:spcAft>
                          <a:spcPts val="0"/>
                        </a:spcAft>
                        <a:buNone/>
                      </a:pPr>
                      <a:r>
                        <a:rPr lang="tr" sz="2400" u="none" strike="noStrike" cap="none"/>
                        <a:t> </a:t>
                      </a:r>
                      <a:endParaRPr sz="2400" b="0" i="0" u="none" strike="noStrike" cap="none">
                        <a:solidFill>
                          <a:srgbClr val="000000"/>
                        </a:solidFill>
                        <a:latin typeface="Times New Roman"/>
                        <a:ea typeface="Times New Roman"/>
                        <a:cs typeface="Times New Roman"/>
                        <a:sym typeface="Times New Roman"/>
                      </a:endParaRPr>
                    </a:p>
                  </a:txBody>
                  <a:tcPr marL="9525" marR="9525" marT="9525" marB="0" anchor="b"/>
                </a:tc>
                <a:tc>
                  <a:txBody>
                    <a:bodyPr/>
                    <a:lstStyle/>
                    <a:p>
                      <a:pPr marL="0" marR="0" lvl="0" indent="0" algn="ctr" rtl="0">
                        <a:spcBef>
                          <a:spcPts val="0"/>
                        </a:spcBef>
                        <a:spcAft>
                          <a:spcPts val="0"/>
                        </a:spcAft>
                        <a:buNone/>
                      </a:pPr>
                      <a:r>
                        <a:rPr lang="tr" sz="2400" u="none" strike="noStrike" cap="none"/>
                        <a:t>5</a:t>
                      </a:r>
                      <a:endParaRPr sz="2400" b="0" i="0" u="none" strike="noStrike" cap="none">
                        <a:solidFill>
                          <a:srgbClr val="000000"/>
                        </a:solidFill>
                        <a:latin typeface="Times New Roman"/>
                        <a:ea typeface="Times New Roman"/>
                        <a:cs typeface="Times New Roman"/>
                        <a:sym typeface="Times New Roman"/>
                      </a:endParaRPr>
                    </a:p>
                  </a:txBody>
                  <a:tcPr marL="9525" marR="9525" marT="9525" marB="0" anchor="b"/>
                </a:tc>
                <a:tc>
                  <a:txBody>
                    <a:bodyPr/>
                    <a:lstStyle/>
                    <a:p>
                      <a:pPr marL="0" marR="0" lvl="0" indent="0" algn="ctr" rtl="0">
                        <a:spcBef>
                          <a:spcPts val="0"/>
                        </a:spcBef>
                        <a:spcAft>
                          <a:spcPts val="0"/>
                        </a:spcAft>
                        <a:buNone/>
                      </a:pPr>
                      <a:r>
                        <a:rPr lang="tr" sz="2400" u="none" strike="noStrike" cap="none"/>
                        <a:t>5</a:t>
                      </a:r>
                      <a:endParaRPr sz="2400" b="0" i="0" u="none" strike="noStrike" cap="none">
                        <a:solidFill>
                          <a:srgbClr val="000000"/>
                        </a:solidFill>
                        <a:latin typeface="Times New Roman"/>
                        <a:ea typeface="Times New Roman"/>
                        <a:cs typeface="Times New Roman"/>
                        <a:sym typeface="Times New Roman"/>
                      </a:endParaRPr>
                    </a:p>
                  </a:txBody>
                  <a:tcPr marL="9525" marR="9525" marT="9525" marB="0" anchor="b"/>
                </a:tc>
                <a:extLst>
                  <a:ext uri="{0D108BD9-81ED-4DB2-BD59-A6C34878D82A}">
                    <a16:rowId xmlns:a16="http://schemas.microsoft.com/office/drawing/2014/main" val="10003"/>
                  </a:ext>
                </a:extLst>
              </a:tr>
              <a:tr h="220100">
                <a:tc>
                  <a:txBody>
                    <a:bodyPr/>
                    <a:lstStyle/>
                    <a:p>
                      <a:pPr marL="0" marR="0" lvl="0" indent="0" algn="ctr" rtl="0">
                        <a:spcBef>
                          <a:spcPts val="0"/>
                        </a:spcBef>
                        <a:spcAft>
                          <a:spcPts val="0"/>
                        </a:spcAft>
                        <a:buNone/>
                      </a:pPr>
                      <a:r>
                        <a:rPr lang="tr" sz="2400" u="none" strike="noStrike" cap="none">
                          <a:solidFill>
                            <a:srgbClr val="00B0F0"/>
                          </a:solidFill>
                        </a:rPr>
                        <a:t>C</a:t>
                      </a:r>
                      <a:endParaRPr sz="2400" b="1" i="0" u="none" strike="noStrike" cap="none">
                        <a:solidFill>
                          <a:srgbClr val="00B0F0"/>
                        </a:solidFill>
                        <a:latin typeface="Times New Roman"/>
                        <a:ea typeface="Times New Roman"/>
                        <a:cs typeface="Times New Roman"/>
                        <a:sym typeface="Times New Roman"/>
                      </a:endParaRPr>
                    </a:p>
                  </a:txBody>
                  <a:tcPr marL="9525" marR="9525" marT="9525" marB="0" anchor="b">
                    <a:solidFill>
                      <a:srgbClr val="BFBFBF"/>
                    </a:solidFill>
                  </a:tcPr>
                </a:tc>
                <a:tc>
                  <a:txBody>
                    <a:bodyPr/>
                    <a:lstStyle/>
                    <a:p>
                      <a:pPr marL="0" marR="0" lvl="0" indent="0" algn="ctr" rtl="0">
                        <a:spcBef>
                          <a:spcPts val="0"/>
                        </a:spcBef>
                        <a:spcAft>
                          <a:spcPts val="0"/>
                        </a:spcAft>
                        <a:buNone/>
                      </a:pPr>
                      <a:r>
                        <a:rPr lang="tr" sz="2400" u="none" strike="noStrike" cap="none"/>
                        <a:t> </a:t>
                      </a:r>
                      <a:endParaRPr sz="2400" b="0" i="0" u="none" strike="noStrike" cap="none">
                        <a:solidFill>
                          <a:srgbClr val="000000"/>
                        </a:solidFill>
                        <a:latin typeface="Times New Roman"/>
                        <a:ea typeface="Times New Roman"/>
                        <a:cs typeface="Times New Roman"/>
                        <a:sym typeface="Times New Roman"/>
                      </a:endParaRPr>
                    </a:p>
                  </a:txBody>
                  <a:tcPr marL="9525" marR="9525" marT="9525" marB="0" anchor="b"/>
                </a:tc>
                <a:tc>
                  <a:txBody>
                    <a:bodyPr/>
                    <a:lstStyle/>
                    <a:p>
                      <a:pPr marL="0" marR="0" lvl="0" indent="0" algn="ctr" rtl="0">
                        <a:spcBef>
                          <a:spcPts val="0"/>
                        </a:spcBef>
                        <a:spcAft>
                          <a:spcPts val="0"/>
                        </a:spcAft>
                        <a:buNone/>
                      </a:pPr>
                      <a:r>
                        <a:rPr lang="tr" sz="2400" u="none" strike="noStrike" cap="none"/>
                        <a:t>5</a:t>
                      </a:r>
                      <a:endParaRPr sz="2400" b="0" i="0" u="none" strike="noStrike" cap="none">
                        <a:solidFill>
                          <a:srgbClr val="000000"/>
                        </a:solidFill>
                        <a:latin typeface="Times New Roman"/>
                        <a:ea typeface="Times New Roman"/>
                        <a:cs typeface="Times New Roman"/>
                        <a:sym typeface="Times New Roman"/>
                      </a:endParaRPr>
                    </a:p>
                  </a:txBody>
                  <a:tcPr marL="9525" marR="9525" marT="9525" marB="0" anchor="b"/>
                </a:tc>
                <a:tc>
                  <a:txBody>
                    <a:bodyPr/>
                    <a:lstStyle/>
                    <a:p>
                      <a:pPr marL="0" marR="0" lvl="0" indent="0" algn="ctr" rtl="0">
                        <a:spcBef>
                          <a:spcPts val="0"/>
                        </a:spcBef>
                        <a:spcAft>
                          <a:spcPts val="0"/>
                        </a:spcAft>
                        <a:buNone/>
                      </a:pPr>
                      <a:r>
                        <a:rPr lang="tr" sz="2400" u="none" strike="noStrike" cap="none"/>
                        <a:t>?</a:t>
                      </a:r>
                      <a:endParaRPr sz="2400" b="0" i="0" u="none" strike="noStrike" cap="none">
                        <a:solidFill>
                          <a:srgbClr val="000000"/>
                        </a:solidFill>
                        <a:latin typeface="Times New Roman"/>
                        <a:ea typeface="Times New Roman"/>
                        <a:cs typeface="Times New Roman"/>
                        <a:sym typeface="Times New Roman"/>
                      </a:endParaRPr>
                    </a:p>
                  </a:txBody>
                  <a:tcPr marL="9525" marR="9525" marT="9525" marB="0" anchor="b">
                    <a:solidFill>
                      <a:srgbClr val="FF0000"/>
                    </a:solidFill>
                  </a:tcPr>
                </a:tc>
                <a:extLst>
                  <a:ext uri="{0D108BD9-81ED-4DB2-BD59-A6C34878D82A}">
                    <a16:rowId xmlns:a16="http://schemas.microsoft.com/office/drawing/2014/main" val="10004"/>
                  </a:ext>
                </a:extLst>
              </a:tr>
              <a:tr h="784200">
                <a:tc gridSpan="4">
                  <a:txBody>
                    <a:bodyPr/>
                    <a:lstStyle/>
                    <a:p>
                      <a:pPr marL="0" marR="0" lvl="0" indent="0" algn="l" rtl="0">
                        <a:spcBef>
                          <a:spcPts val="0"/>
                        </a:spcBef>
                        <a:spcAft>
                          <a:spcPts val="0"/>
                        </a:spcAft>
                        <a:buNone/>
                      </a:pPr>
                      <a:endParaRPr sz="2400" b="0" i="0" u="none" strike="noStrike" cap="none">
                        <a:solidFill>
                          <a:srgbClr val="1A1A1A"/>
                        </a:solidFill>
                        <a:latin typeface="Times New Roman"/>
                        <a:ea typeface="Times New Roman"/>
                        <a:cs typeface="Times New Roman"/>
                        <a:sym typeface="Times New Roman"/>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8"/>
          <p:cNvPicPr preferRelativeResize="0"/>
          <p:nvPr/>
        </p:nvPicPr>
        <p:blipFill>
          <a:blip r:embed="rId3">
            <a:alphaModFix/>
          </a:blip>
          <a:stretch>
            <a:fillRect/>
          </a:stretch>
        </p:blipFill>
        <p:spPr>
          <a:xfrm>
            <a:off x="152400" y="152400"/>
            <a:ext cx="8857275" cy="4420875"/>
          </a:xfrm>
          <a:prstGeom prst="rect">
            <a:avLst/>
          </a:prstGeom>
          <a:noFill/>
          <a:ln>
            <a:noFill/>
          </a:ln>
        </p:spPr>
      </p:pic>
      <p:sp>
        <p:nvSpPr>
          <p:cNvPr id="95" name="Google Shape;95;p18"/>
          <p:cNvSpPr txBox="1"/>
          <p:nvPr/>
        </p:nvSpPr>
        <p:spPr>
          <a:xfrm>
            <a:off x="0" y="4618900"/>
            <a:ext cx="91440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tr" sz="1200">
                <a:latin typeface="Times New Roman"/>
                <a:ea typeface="Times New Roman"/>
                <a:cs typeface="Times New Roman"/>
                <a:sym typeface="Times New Roman"/>
              </a:rPr>
              <a:t>https://www.researchgate.net/figure/A-hypothetical-example-of-Multilayer-Perceptron-Network_fig4_303875065</a:t>
            </a:r>
            <a:endParaRPr sz="12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380125" y="87850"/>
            <a:ext cx="8520600" cy="831300"/>
          </a:xfrm>
          <a:prstGeom prst="rect">
            <a:avLst/>
          </a:prstGeom>
        </p:spPr>
        <p:txBody>
          <a:bodyPr spcFirstLastPara="1" wrap="square" lIns="91425" tIns="91425" rIns="91425" bIns="91425" anchor="b" anchorCtr="0">
            <a:normAutofit fontScale="90000"/>
          </a:bodyPr>
          <a:lstStyle/>
          <a:p>
            <a:pPr marL="0" lvl="0" indent="0" algn="ctr" rtl="0">
              <a:lnSpc>
                <a:spcPct val="115000"/>
              </a:lnSpc>
              <a:spcBef>
                <a:spcPts val="0"/>
              </a:spcBef>
              <a:spcAft>
                <a:spcPts val="1200"/>
              </a:spcAft>
              <a:buClr>
                <a:schemeClr val="dk1"/>
              </a:buClr>
              <a:buSzPts val="1100"/>
              <a:buFont typeface="Arial"/>
              <a:buNone/>
            </a:pPr>
            <a:r>
              <a:rPr lang="tr" sz="3000" b="1" dirty="0">
                <a:highlight>
                  <a:srgbClr val="FFFFFF"/>
                </a:highlight>
                <a:latin typeface="Times New Roman"/>
                <a:ea typeface="Times New Roman"/>
                <a:cs typeface="Times New Roman"/>
                <a:sym typeface="Times New Roman"/>
              </a:rPr>
              <a:t> </a:t>
            </a:r>
            <a:r>
              <a:rPr lang="tr" sz="3000" b="1" dirty="0">
                <a:solidFill>
                  <a:srgbClr val="0D0D0D"/>
                </a:solidFill>
                <a:highlight>
                  <a:srgbClr val="FFFFFF"/>
                </a:highlight>
                <a:latin typeface="Times New Roman"/>
                <a:ea typeface="Times New Roman"/>
                <a:cs typeface="Times New Roman"/>
                <a:sym typeface="Times New Roman"/>
              </a:rPr>
              <a:t>YÖNTEM</a:t>
            </a:r>
            <a:endParaRPr sz="3000" b="1" dirty="0">
              <a:latin typeface="Times New Roman"/>
              <a:ea typeface="Times New Roman"/>
              <a:cs typeface="Times New Roman"/>
              <a:sym typeface="Times New Roman"/>
            </a:endParaRPr>
          </a:p>
        </p:txBody>
      </p:sp>
      <p:sp>
        <p:nvSpPr>
          <p:cNvPr id="108" name="Google Shape;108;p20"/>
          <p:cNvSpPr txBox="1"/>
          <p:nvPr/>
        </p:nvSpPr>
        <p:spPr>
          <a:xfrm>
            <a:off x="0" y="4535089"/>
            <a:ext cx="9055200" cy="27695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tr" sz="1200" dirty="0">
                <a:solidFill>
                  <a:srgbClr val="000000"/>
                </a:solidFill>
                <a:latin typeface="Times New Roman"/>
                <a:ea typeface="Times New Roman"/>
                <a:cs typeface="Times New Roman"/>
                <a:sym typeface="Times New Roman"/>
              </a:rPr>
              <a:t>Sources:</a:t>
            </a:r>
            <a:r>
              <a:rPr lang="tr-TR" sz="1200" dirty="0">
                <a:solidFill>
                  <a:srgbClr val="000000"/>
                </a:solidFill>
                <a:latin typeface="Times New Roman"/>
                <a:ea typeface="Times New Roman"/>
                <a:cs typeface="Times New Roman"/>
                <a:sym typeface="Times New Roman"/>
              </a:rPr>
              <a:t>https://www.europarl.europa.eu/topics/en/article/20230601STO93804/eu-ai-act-first-regulation-on-artificial-intelligence </a:t>
            </a:r>
            <a:endParaRPr sz="1200" dirty="0">
              <a:solidFill>
                <a:srgbClr val="000000"/>
              </a:solidFill>
              <a:latin typeface="Calibri"/>
              <a:ea typeface="Calibri"/>
              <a:cs typeface="Calibri"/>
              <a:sym typeface="Calibri"/>
            </a:endParaRPr>
          </a:p>
        </p:txBody>
      </p:sp>
      <p:pic>
        <p:nvPicPr>
          <p:cNvPr id="10" name="Resim 9">
            <a:extLst>
              <a:ext uri="{FF2B5EF4-FFF2-40B4-BE49-F238E27FC236}">
                <a16:creationId xmlns:a16="http://schemas.microsoft.com/office/drawing/2014/main" id="{9F287E76-C5AE-22E5-D895-C3AF2FC146C0}"/>
              </a:ext>
            </a:extLst>
          </p:cNvPr>
          <p:cNvPicPr>
            <a:picLocks noChangeAspect="1"/>
          </p:cNvPicPr>
          <p:nvPr/>
        </p:nvPicPr>
        <p:blipFill>
          <a:blip r:embed="rId3"/>
          <a:stretch>
            <a:fillRect/>
          </a:stretch>
        </p:blipFill>
        <p:spPr>
          <a:xfrm>
            <a:off x="2576587" y="787340"/>
            <a:ext cx="3902026" cy="35688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graphicFrame>
        <p:nvGraphicFramePr>
          <p:cNvPr id="113" name="Google Shape;113;p21"/>
          <p:cNvGraphicFramePr/>
          <p:nvPr>
            <p:extLst>
              <p:ext uri="{D42A27DB-BD31-4B8C-83A1-F6EECF244321}">
                <p14:modId xmlns:p14="http://schemas.microsoft.com/office/powerpoint/2010/main" val="1171292887"/>
              </p:ext>
            </p:extLst>
          </p:nvPr>
        </p:nvGraphicFramePr>
        <p:xfrm>
          <a:off x="0" y="-1"/>
          <a:ext cx="9144000" cy="4999703"/>
        </p:xfrm>
        <a:graphic>
          <a:graphicData uri="http://schemas.openxmlformats.org/drawingml/2006/table">
            <a:tbl>
              <a:tblPr firstRow="1" bandRow="1">
                <a:noFill/>
                <a:tableStyleId>{51AB02EC-E335-4945-A716-73AA5839B56D}</a:tableStyleId>
              </a:tblPr>
              <a:tblGrid>
                <a:gridCol w="2154959">
                  <a:extLst>
                    <a:ext uri="{9D8B030D-6E8A-4147-A177-3AD203B41FA5}">
                      <a16:colId xmlns:a16="http://schemas.microsoft.com/office/drawing/2014/main" val="20000"/>
                    </a:ext>
                  </a:extLst>
                </a:gridCol>
                <a:gridCol w="6989041">
                  <a:extLst>
                    <a:ext uri="{9D8B030D-6E8A-4147-A177-3AD203B41FA5}">
                      <a16:colId xmlns:a16="http://schemas.microsoft.com/office/drawing/2014/main" val="20001"/>
                    </a:ext>
                  </a:extLst>
                </a:gridCol>
              </a:tblGrid>
              <a:tr h="371021">
                <a:tc>
                  <a:txBody>
                    <a:bodyPr/>
                    <a:lstStyle/>
                    <a:p>
                      <a:pPr marL="0" marR="0" lvl="0" indent="0" algn="l" rtl="0">
                        <a:lnSpc>
                          <a:spcPct val="150000"/>
                        </a:lnSpc>
                        <a:spcBef>
                          <a:spcPts val="0"/>
                        </a:spcBef>
                        <a:spcAft>
                          <a:spcPts val="0"/>
                        </a:spcAft>
                        <a:buNone/>
                      </a:pPr>
                      <a:r>
                        <a:rPr lang="tr" sz="1800" b="1"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COLUMN</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1800" b="1"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DESCRIPTION</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0"/>
                  </a:ext>
                </a:extLst>
              </a:tr>
              <a:tr h="395886">
                <a:tc>
                  <a:txBody>
                    <a:bodyPr/>
                    <a:lstStyle/>
                    <a:p>
                      <a:pPr marL="0" marR="0" lvl="0" indent="0" algn="l" rtl="0">
                        <a:lnSpc>
                          <a:spcPct val="150000"/>
                        </a:lnSpc>
                        <a:spcBef>
                          <a:spcPts val="0"/>
                        </a:spcBef>
                        <a:spcAft>
                          <a:spcPts val="0"/>
                        </a:spcAft>
                        <a:buNone/>
                      </a:pPr>
                      <a:r>
                        <a:rPr lang="tr" sz="180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user_id</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TR" sz="1800" dirty="0">
                          <a:latin typeface="Times New Roman" panose="02020603050405020304" pitchFamily="18" charset="0"/>
                          <a:cs typeface="Times New Roman" panose="02020603050405020304" pitchFamily="18" charset="0"/>
                        </a:rPr>
                        <a:t>Her kullanıcıya verilen benzersiz bir numara.</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1"/>
                  </a:ext>
                </a:extLst>
              </a:tr>
              <a:tr h="395886">
                <a:tc>
                  <a:txBody>
                    <a:bodyPr/>
                    <a:lstStyle/>
                    <a:p>
                      <a:pPr marL="0" marR="0" lvl="0" indent="0" algn="l" rtl="0">
                        <a:lnSpc>
                          <a:spcPct val="150000"/>
                        </a:lnSpc>
                        <a:spcBef>
                          <a:spcPts val="0"/>
                        </a:spcBef>
                        <a:spcAft>
                          <a:spcPts val="0"/>
                        </a:spcAft>
                        <a:buNone/>
                      </a:pPr>
                      <a:r>
                        <a:rPr lang="tr" sz="180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checkin</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sz="18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Rezervasyon başlangıç tarihi.</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2"/>
                  </a:ext>
                </a:extLst>
              </a:tr>
              <a:tr h="395886">
                <a:tc>
                  <a:txBody>
                    <a:bodyPr/>
                    <a:lstStyle/>
                    <a:p>
                      <a:pPr marL="0" marR="0" lvl="0" indent="0" algn="l" rtl="0">
                        <a:lnSpc>
                          <a:spcPct val="150000"/>
                        </a:lnSpc>
                        <a:spcBef>
                          <a:spcPts val="0"/>
                        </a:spcBef>
                        <a:spcAft>
                          <a:spcPts val="0"/>
                        </a:spcAft>
                        <a:buNone/>
                      </a:pPr>
                      <a:r>
                        <a:rPr lang="tr" sz="180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checkout</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en-US" sz="18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Rezervasyon</a:t>
                      </a:r>
                      <a:r>
                        <a:rPr lang="en-US" sz="18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tr-TR" sz="18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bitiş</a:t>
                      </a:r>
                      <a:r>
                        <a:rPr lang="en-US" sz="18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8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tarihi</a:t>
                      </a:r>
                      <a:r>
                        <a:rPr lang="en-US" sz="18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lang="en-US"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3"/>
                  </a:ext>
                </a:extLst>
              </a:tr>
              <a:tr h="845685">
                <a:tc>
                  <a:txBody>
                    <a:bodyPr/>
                    <a:lstStyle/>
                    <a:p>
                      <a:pPr marL="0" marR="0" lvl="0" indent="0" algn="l" rtl="0">
                        <a:lnSpc>
                          <a:spcPct val="150000"/>
                        </a:lnSpc>
                        <a:spcBef>
                          <a:spcPts val="0"/>
                        </a:spcBef>
                        <a:spcAft>
                          <a:spcPts val="0"/>
                        </a:spcAft>
                        <a:buNone/>
                      </a:pPr>
                      <a:r>
                        <a:rPr lang="tr" sz="180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affiliate_id</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l" rtl="0">
                        <a:lnSpc>
                          <a:spcPct val="100000"/>
                        </a:lnSpc>
                        <a:spcBef>
                          <a:spcPts val="0"/>
                        </a:spcBef>
                        <a:spcAft>
                          <a:spcPts val="0"/>
                        </a:spcAft>
                        <a:buNone/>
                      </a:pPr>
                      <a:r>
                        <a:rPr lang="tr-TR" sz="1800" dirty="0">
                          <a:latin typeface="Times New Roman" panose="02020603050405020304" pitchFamily="18" charset="0"/>
                          <a:cs typeface="Times New Roman" panose="02020603050405020304" pitchFamily="18" charset="0"/>
                        </a:rPr>
                        <a:t>Kullanıcıların bir oteli öğrenme ve otelle bağlantı kurma yollarını temsil eden rakamsal bir ifade.</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4"/>
                  </a:ext>
                </a:extLst>
              </a:tr>
              <a:tr h="845685">
                <a:tc>
                  <a:txBody>
                    <a:bodyPr/>
                    <a:lstStyle/>
                    <a:p>
                      <a:pPr marL="0" marR="0" lvl="0" indent="0" algn="l" rtl="0">
                        <a:lnSpc>
                          <a:spcPct val="150000"/>
                        </a:lnSpc>
                        <a:spcBef>
                          <a:spcPts val="0"/>
                        </a:spcBef>
                        <a:spcAft>
                          <a:spcPts val="0"/>
                        </a:spcAft>
                        <a:buNone/>
                      </a:pPr>
                      <a:r>
                        <a:rPr lang="tr" sz="18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device_class</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l" rtl="0">
                        <a:lnSpc>
                          <a:spcPct val="100000"/>
                        </a:lnSpc>
                        <a:spcBef>
                          <a:spcPts val="0"/>
                        </a:spcBef>
                        <a:spcAft>
                          <a:spcPts val="0"/>
                        </a:spcAft>
                        <a:buNone/>
                      </a:pPr>
                      <a:r>
                        <a:rPr lang="tr" sz="18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Rezervasyonun masaüstü cihaz ya da cep telefonundan yapıldığının bilgisini tutar.</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5"/>
                  </a:ext>
                </a:extLst>
              </a:tr>
              <a:tr h="395886">
                <a:tc>
                  <a:txBody>
                    <a:bodyPr/>
                    <a:lstStyle/>
                    <a:p>
                      <a:pPr marL="0" marR="0" lvl="0" indent="0" algn="l" rtl="0">
                        <a:lnSpc>
                          <a:spcPct val="150000"/>
                        </a:lnSpc>
                        <a:spcBef>
                          <a:spcPts val="0"/>
                        </a:spcBef>
                        <a:spcAft>
                          <a:spcPts val="0"/>
                        </a:spcAft>
                        <a:buNone/>
                      </a:pPr>
                      <a:r>
                        <a:rPr lang="tr" sz="180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booker_country</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sz="18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Kullanıcının ülke bilgisini tutar.</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6"/>
                  </a:ext>
                </a:extLst>
              </a:tr>
              <a:tr h="395886">
                <a:tc>
                  <a:txBody>
                    <a:bodyPr/>
                    <a:lstStyle/>
                    <a:p>
                      <a:pPr marL="0" marR="0" lvl="0" indent="0" algn="l" rtl="0">
                        <a:lnSpc>
                          <a:spcPct val="150000"/>
                        </a:lnSpc>
                        <a:spcBef>
                          <a:spcPts val="0"/>
                        </a:spcBef>
                        <a:spcAft>
                          <a:spcPts val="0"/>
                        </a:spcAft>
                        <a:buNone/>
                      </a:pPr>
                      <a:r>
                        <a:rPr lang="tr" sz="180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hotel_country</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sz="18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Hotelin ülke bilgisini tutar.</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7"/>
                  </a:ext>
                </a:extLst>
              </a:tr>
              <a:tr h="395886">
                <a:tc>
                  <a:txBody>
                    <a:bodyPr/>
                    <a:lstStyle/>
                    <a:p>
                      <a:pPr marL="0" marR="0" lvl="0" indent="0" algn="l" rtl="0">
                        <a:lnSpc>
                          <a:spcPct val="150000"/>
                        </a:lnSpc>
                        <a:spcBef>
                          <a:spcPts val="0"/>
                        </a:spcBef>
                        <a:spcAft>
                          <a:spcPts val="0"/>
                        </a:spcAft>
                        <a:buNone/>
                      </a:pPr>
                      <a:r>
                        <a:rPr lang="tr" sz="180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city_id</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TR" sz="1800" dirty="0">
                          <a:latin typeface="Times New Roman" panose="02020603050405020304" pitchFamily="18" charset="0"/>
                          <a:cs typeface="Times New Roman" panose="02020603050405020304" pitchFamily="18" charset="0"/>
                        </a:rPr>
                        <a:t>Otelin bulunduğu şehri belirten benzersiz bir numara</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8"/>
                  </a:ext>
                </a:extLst>
              </a:tr>
              <a:tr h="561996">
                <a:tc>
                  <a:txBody>
                    <a:bodyPr/>
                    <a:lstStyle/>
                    <a:p>
                      <a:pPr marL="0" marR="0" lvl="0" indent="0" algn="l" rtl="0">
                        <a:lnSpc>
                          <a:spcPct val="150000"/>
                        </a:lnSpc>
                        <a:spcBef>
                          <a:spcPts val="0"/>
                        </a:spcBef>
                        <a:spcAft>
                          <a:spcPts val="0"/>
                        </a:spcAft>
                        <a:buNone/>
                      </a:pPr>
                      <a:r>
                        <a:rPr lang="tr" sz="180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utrip_id</a:t>
                      </a:r>
                      <a:endParaRPr sz="18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tc>
                  <a:txBody>
                    <a:bodyPr/>
                    <a:lstStyle/>
                    <a:p>
                      <a:pPr marL="0" marR="0" lvl="0" indent="0" algn="l" rtl="0">
                        <a:lnSpc>
                          <a:spcPct val="100000"/>
                        </a:lnSpc>
                        <a:spcBef>
                          <a:spcPts val="0"/>
                        </a:spcBef>
                        <a:spcAft>
                          <a:spcPts val="0"/>
                        </a:spcAft>
                        <a:buNone/>
                      </a:pPr>
                      <a:r>
                        <a:rPr lang="tr-TR" sz="1800" dirty="0">
                          <a:latin typeface="Times New Roman" panose="02020603050405020304" pitchFamily="18" charset="0"/>
                          <a:cs typeface="Times New Roman" panose="02020603050405020304" pitchFamily="18" charset="0"/>
                        </a:rPr>
                        <a:t>Aynı seyahat içindeki birden fazla </a:t>
                      </a:r>
                      <a:r>
                        <a:rPr lang="tr-TR" sz="1800" dirty="0" err="1">
                          <a:latin typeface="Times New Roman" panose="02020603050405020304" pitchFamily="18" charset="0"/>
                          <a:cs typeface="Times New Roman" panose="02020603050405020304" pitchFamily="18" charset="0"/>
                        </a:rPr>
                        <a:t>destinasyonlu</a:t>
                      </a:r>
                      <a:r>
                        <a:rPr lang="tr-TR" sz="1800" dirty="0">
                          <a:latin typeface="Times New Roman" panose="02020603050405020304" pitchFamily="18" charset="0"/>
                          <a:cs typeface="Times New Roman" panose="02020603050405020304" pitchFamily="18" charset="0"/>
                        </a:rPr>
                        <a:t> rezervasyon grubunun benzersiz tanımlayıcısı.</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68575" marR="68575"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graphicFrame>
        <p:nvGraphicFramePr>
          <p:cNvPr id="118" name="Google Shape;118;p22"/>
          <p:cNvGraphicFramePr/>
          <p:nvPr>
            <p:extLst>
              <p:ext uri="{D42A27DB-BD31-4B8C-83A1-F6EECF244321}">
                <p14:modId xmlns:p14="http://schemas.microsoft.com/office/powerpoint/2010/main" val="2050339266"/>
              </p:ext>
            </p:extLst>
          </p:nvPr>
        </p:nvGraphicFramePr>
        <p:xfrm>
          <a:off x="-6" y="-77"/>
          <a:ext cx="9195325" cy="5063165"/>
        </p:xfrm>
        <a:graphic>
          <a:graphicData uri="http://schemas.openxmlformats.org/drawingml/2006/table">
            <a:tbl>
              <a:tblPr bandRow="1">
                <a:noFill/>
                <a:tableStyleId>{51AB02EC-E335-4945-A716-73AA5839B56D}</a:tableStyleId>
              </a:tblPr>
              <a:tblGrid>
                <a:gridCol w="1415851">
                  <a:extLst>
                    <a:ext uri="{9D8B030D-6E8A-4147-A177-3AD203B41FA5}">
                      <a16:colId xmlns:a16="http://schemas.microsoft.com/office/drawing/2014/main" val="20000"/>
                    </a:ext>
                  </a:extLst>
                </a:gridCol>
                <a:gridCol w="7779474">
                  <a:extLst>
                    <a:ext uri="{9D8B030D-6E8A-4147-A177-3AD203B41FA5}">
                      <a16:colId xmlns:a16="http://schemas.microsoft.com/office/drawing/2014/main" val="20001"/>
                    </a:ext>
                  </a:extLst>
                </a:gridCol>
              </a:tblGrid>
              <a:tr h="239852">
                <a:tc>
                  <a:txBody>
                    <a:bodyPr/>
                    <a:lstStyle/>
                    <a:p>
                      <a:pPr marL="0" marR="0" lvl="0" indent="0" algn="l" rtl="0">
                        <a:lnSpc>
                          <a:spcPct val="150000"/>
                        </a:lnSpc>
                        <a:spcBef>
                          <a:spcPts val="0"/>
                        </a:spcBef>
                        <a:spcAft>
                          <a:spcPts val="0"/>
                        </a:spcAft>
                        <a:buNone/>
                      </a:pPr>
                      <a:r>
                        <a:rPr lang="tr" sz="1600" b="1" u="none" strike="noStrike" cap="none">
                          <a:latin typeface="Times New Roman" panose="02020603050405020304" pitchFamily="18" charset="0"/>
                          <a:ea typeface="Times New Roman"/>
                          <a:cs typeface="Times New Roman" panose="02020603050405020304" pitchFamily="18" charset="0"/>
                          <a:sym typeface="Times New Roman"/>
                        </a:rPr>
                        <a:t>COLUMN</a:t>
                      </a:r>
                      <a:endParaRPr sz="1600" b="1"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ctr" rtl="0">
                        <a:lnSpc>
                          <a:spcPct val="150000"/>
                        </a:lnSpc>
                        <a:spcBef>
                          <a:spcPts val="0"/>
                        </a:spcBef>
                        <a:spcAft>
                          <a:spcPts val="0"/>
                        </a:spcAft>
                        <a:buNone/>
                      </a:pPr>
                      <a:r>
                        <a:rPr lang="tr" sz="1600" b="1" u="none" strike="noStrike" cap="none">
                          <a:latin typeface="Times New Roman" panose="02020603050405020304" pitchFamily="18" charset="0"/>
                          <a:ea typeface="Times New Roman"/>
                          <a:cs typeface="Times New Roman" panose="02020603050405020304" pitchFamily="18" charset="0"/>
                          <a:sym typeface="Times New Roman"/>
                        </a:rPr>
                        <a:t>DESCRIPTION</a:t>
                      </a:r>
                      <a:endParaRPr sz="1600" b="1"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0"/>
                  </a:ext>
                </a:extLst>
              </a:tr>
              <a:tr h="239852">
                <a:tc>
                  <a:txBody>
                    <a:bodyPr/>
                    <a:lstStyle/>
                    <a:p>
                      <a:pPr marL="0" marR="0" lvl="0" indent="0" algn="l" rtl="0">
                        <a:lnSpc>
                          <a:spcPct val="150000"/>
                        </a:lnSpc>
                        <a:spcBef>
                          <a:spcPts val="0"/>
                        </a:spcBef>
                        <a:spcAft>
                          <a:spcPts val="0"/>
                        </a:spcAft>
                        <a:buNone/>
                      </a:pPr>
                      <a:r>
                        <a:rPr lang="tr" sz="1600" u="none" strike="noStrike" cap="none">
                          <a:latin typeface="Times New Roman" panose="02020603050405020304" pitchFamily="18" charset="0"/>
                          <a:ea typeface="Times New Roman"/>
                          <a:cs typeface="Times New Roman" panose="02020603050405020304" pitchFamily="18" charset="0"/>
                          <a:sym typeface="Times New Roman"/>
                        </a:rPr>
                        <a:t>user_id</a:t>
                      </a:r>
                      <a:endParaRPr sz="16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tr-TR" sz="1600" dirty="0">
                          <a:latin typeface="Times New Roman" panose="02020603050405020304" pitchFamily="18" charset="0"/>
                          <a:cs typeface="Times New Roman" panose="02020603050405020304" pitchFamily="18" charset="0"/>
                        </a:rPr>
                        <a:t>Her kullanıcıya verilen benzersiz bir numara.</a:t>
                      </a:r>
                      <a:endParaRP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1"/>
                  </a:ext>
                </a:extLst>
              </a:tr>
              <a:tr h="239852">
                <a:tc>
                  <a:txBody>
                    <a:bodyPr/>
                    <a:lstStyle/>
                    <a:p>
                      <a:pPr marL="0" marR="0" lvl="0" indent="0" algn="l" rtl="0">
                        <a:lnSpc>
                          <a:spcPct val="150000"/>
                        </a:lnSpc>
                        <a:spcBef>
                          <a:spcPts val="0"/>
                        </a:spcBef>
                        <a:spcAft>
                          <a:spcPts val="0"/>
                        </a:spcAft>
                        <a:buNone/>
                      </a:pPr>
                      <a:r>
                        <a:rPr lang="tr" sz="1600" u="none" strike="noStrike" cap="none">
                          <a:latin typeface="Times New Roman" panose="02020603050405020304" pitchFamily="18" charset="0"/>
                          <a:ea typeface="Times New Roman"/>
                          <a:cs typeface="Times New Roman" panose="02020603050405020304" pitchFamily="18" charset="0"/>
                          <a:sym typeface="Times New Roman"/>
                        </a:rPr>
                        <a:t>Checkin</a:t>
                      </a:r>
                      <a:endParaRPr sz="16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50000"/>
                        </a:lnSpc>
                        <a:spcBef>
                          <a:spcPts val="0"/>
                        </a:spcBef>
                        <a:spcAft>
                          <a:spcPts val="0"/>
                        </a:spcAft>
                        <a:buNone/>
                      </a:pP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Rezervasyon</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başlangıç</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tarihi</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lang="en-US"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2"/>
                  </a:ext>
                </a:extLst>
              </a:tr>
              <a:tr h="239852">
                <a:tc>
                  <a:txBody>
                    <a:bodyPr/>
                    <a:lstStyle/>
                    <a:p>
                      <a:pPr marL="0" marR="0" lvl="0" indent="0" algn="l" rtl="0">
                        <a:lnSpc>
                          <a:spcPct val="150000"/>
                        </a:lnSpc>
                        <a:spcBef>
                          <a:spcPts val="0"/>
                        </a:spcBef>
                        <a:spcAft>
                          <a:spcPts val="0"/>
                        </a:spcAft>
                        <a:buNone/>
                      </a:pPr>
                      <a:r>
                        <a:rPr lang="tr" sz="1600" u="none" strike="noStrike" cap="none" dirty="0">
                          <a:latin typeface="Times New Roman" panose="02020603050405020304" pitchFamily="18" charset="0"/>
                          <a:ea typeface="Times New Roman"/>
                          <a:cs typeface="Times New Roman" panose="02020603050405020304" pitchFamily="18" charset="0"/>
                          <a:sym typeface="Times New Roman"/>
                        </a:rPr>
                        <a:t>checkout</a:t>
                      </a:r>
                      <a:endParaRP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50000"/>
                        </a:lnSpc>
                        <a:spcBef>
                          <a:spcPts val="0"/>
                        </a:spcBef>
                        <a:spcAft>
                          <a:spcPts val="0"/>
                        </a:spcAft>
                        <a:buNone/>
                      </a:pP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Rezervasyon</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tr-TR"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bitiş</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tarihi</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lang="en-US"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3"/>
                  </a:ext>
                </a:extLst>
              </a:tr>
              <a:tr h="512346">
                <a:tc>
                  <a:txBody>
                    <a:bodyPr/>
                    <a:lstStyle/>
                    <a:p>
                      <a:pPr marL="0" marR="0" lvl="0" indent="0" algn="l" rtl="0">
                        <a:lnSpc>
                          <a:spcPct val="150000"/>
                        </a:lnSpc>
                        <a:spcBef>
                          <a:spcPts val="0"/>
                        </a:spcBef>
                        <a:spcAft>
                          <a:spcPts val="0"/>
                        </a:spcAft>
                        <a:buNone/>
                      </a:pPr>
                      <a:r>
                        <a:rPr lang="tr" sz="1600" u="none" strike="noStrike" cap="none">
                          <a:latin typeface="Times New Roman" panose="02020603050405020304" pitchFamily="18" charset="0"/>
                          <a:ea typeface="Times New Roman"/>
                          <a:cs typeface="Times New Roman" panose="02020603050405020304" pitchFamily="18" charset="0"/>
                          <a:sym typeface="Times New Roman"/>
                        </a:rPr>
                        <a:t>affiliate_id</a:t>
                      </a:r>
                      <a:endParaRPr sz="16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00000"/>
                        </a:lnSpc>
                        <a:spcBef>
                          <a:spcPts val="0"/>
                        </a:spcBef>
                        <a:spcAft>
                          <a:spcPts val="0"/>
                        </a:spcAft>
                        <a:buNone/>
                      </a:pPr>
                      <a:r>
                        <a:rPr lang="tr-TR" sz="1600" dirty="0">
                          <a:latin typeface="Times New Roman" panose="02020603050405020304" pitchFamily="18" charset="0"/>
                          <a:cs typeface="Times New Roman" panose="02020603050405020304" pitchFamily="18" charset="0"/>
                        </a:rPr>
                        <a:t>Kullanıcıların bir oteli öğrenme ve otelle bağlantı kurma yollarını temsil eden rakamsal bir ifade.</a:t>
                      </a:r>
                      <a:endParaRPr lang="tr-T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4"/>
                  </a:ext>
                </a:extLst>
              </a:tr>
              <a:tr h="239852">
                <a:tc>
                  <a:txBody>
                    <a:bodyPr/>
                    <a:lstStyle/>
                    <a:p>
                      <a:pPr marL="0" marR="0" lvl="0" indent="0" algn="l" rtl="0">
                        <a:lnSpc>
                          <a:spcPct val="150000"/>
                        </a:lnSpc>
                        <a:spcBef>
                          <a:spcPts val="0"/>
                        </a:spcBef>
                        <a:spcAft>
                          <a:spcPts val="0"/>
                        </a:spcAft>
                        <a:buNone/>
                      </a:pPr>
                      <a:r>
                        <a:rPr lang="tr" sz="1600" u="none" strike="noStrike" cap="none">
                          <a:latin typeface="Times New Roman" panose="02020603050405020304" pitchFamily="18" charset="0"/>
                          <a:ea typeface="Times New Roman"/>
                          <a:cs typeface="Times New Roman" panose="02020603050405020304" pitchFamily="18" charset="0"/>
                          <a:sym typeface="Times New Roman"/>
                        </a:rPr>
                        <a:t>device_class</a:t>
                      </a:r>
                      <a:endParaRPr sz="16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50000"/>
                        </a:lnSpc>
                        <a:spcBef>
                          <a:spcPts val="0"/>
                        </a:spcBef>
                        <a:spcAft>
                          <a:spcPts val="0"/>
                        </a:spcAft>
                        <a:buNone/>
                      </a:pP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Rezervasyonun</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masaüstü</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cihaz</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ya</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da cep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telefonundan</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yapıldığının</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bilgisini</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tutar</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lang="en-US"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5"/>
                  </a:ext>
                </a:extLst>
              </a:tr>
              <a:tr h="239852">
                <a:tc>
                  <a:txBody>
                    <a:bodyPr/>
                    <a:lstStyle/>
                    <a:p>
                      <a:pPr marL="0" marR="0" lvl="0" indent="0" algn="l" rtl="0">
                        <a:lnSpc>
                          <a:spcPct val="150000"/>
                        </a:lnSpc>
                        <a:spcBef>
                          <a:spcPts val="0"/>
                        </a:spcBef>
                        <a:spcAft>
                          <a:spcPts val="0"/>
                        </a:spcAft>
                        <a:buNone/>
                      </a:pPr>
                      <a:r>
                        <a:rPr lang="tr" sz="1600" u="none" strike="noStrike" cap="none">
                          <a:latin typeface="Times New Roman" panose="02020603050405020304" pitchFamily="18" charset="0"/>
                          <a:ea typeface="Times New Roman"/>
                          <a:cs typeface="Times New Roman" panose="02020603050405020304" pitchFamily="18" charset="0"/>
                          <a:sym typeface="Times New Roman"/>
                        </a:rPr>
                        <a:t>booker_country</a:t>
                      </a:r>
                      <a:endParaRPr sz="16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50000"/>
                        </a:lnSpc>
                        <a:spcBef>
                          <a:spcPts val="0"/>
                        </a:spcBef>
                        <a:spcAft>
                          <a:spcPts val="0"/>
                        </a:spcAft>
                        <a:buNone/>
                      </a:pPr>
                      <a:r>
                        <a:rPr lang="tr"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Kullanıcının ülke bilgisini tutar</a:t>
                      </a:r>
                      <a:endParaRP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6"/>
                  </a:ext>
                </a:extLst>
              </a:tr>
              <a:tr h="239852">
                <a:tc>
                  <a:txBody>
                    <a:bodyPr/>
                    <a:lstStyle/>
                    <a:p>
                      <a:pPr marL="0" marR="0" lvl="0" indent="0" algn="l" rtl="0">
                        <a:lnSpc>
                          <a:spcPct val="150000"/>
                        </a:lnSpc>
                        <a:spcBef>
                          <a:spcPts val="0"/>
                        </a:spcBef>
                        <a:spcAft>
                          <a:spcPts val="0"/>
                        </a:spcAft>
                        <a:buNone/>
                      </a:pPr>
                      <a:r>
                        <a:rPr lang="tr" sz="1600" u="none" strike="noStrike" cap="none">
                          <a:latin typeface="Times New Roman" panose="02020603050405020304" pitchFamily="18" charset="0"/>
                          <a:ea typeface="Times New Roman"/>
                          <a:cs typeface="Times New Roman" panose="02020603050405020304" pitchFamily="18" charset="0"/>
                          <a:sym typeface="Times New Roman"/>
                        </a:rPr>
                        <a:t>hotel_country</a:t>
                      </a:r>
                      <a:endParaRPr sz="16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50000"/>
                        </a:lnSpc>
                        <a:spcBef>
                          <a:spcPts val="0"/>
                        </a:spcBef>
                        <a:spcAft>
                          <a:spcPts val="0"/>
                        </a:spcAft>
                        <a:buNone/>
                      </a:pP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Hotelin</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ülke</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bilgisini</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60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tutar</a:t>
                      </a:r>
                      <a:r>
                        <a:rPr lang="en-US" sz="16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lang="en-US"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7"/>
                  </a:ext>
                </a:extLst>
              </a:tr>
              <a:tr h="239852">
                <a:tc>
                  <a:txBody>
                    <a:bodyPr/>
                    <a:lstStyle/>
                    <a:p>
                      <a:pPr marL="0" marR="0" lvl="0" indent="0" algn="l" rtl="0">
                        <a:lnSpc>
                          <a:spcPct val="150000"/>
                        </a:lnSpc>
                        <a:spcBef>
                          <a:spcPts val="0"/>
                        </a:spcBef>
                        <a:spcAft>
                          <a:spcPts val="0"/>
                        </a:spcAft>
                        <a:buNone/>
                      </a:pPr>
                      <a:r>
                        <a:rPr lang="tr" sz="1600" u="none" strike="noStrike" cap="none">
                          <a:latin typeface="Times New Roman" panose="02020603050405020304" pitchFamily="18" charset="0"/>
                          <a:ea typeface="Times New Roman"/>
                          <a:cs typeface="Times New Roman" panose="02020603050405020304" pitchFamily="18" charset="0"/>
                          <a:sym typeface="Times New Roman"/>
                        </a:rPr>
                        <a:t>city_id</a:t>
                      </a:r>
                      <a:endParaRPr sz="16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50000"/>
                        </a:lnSpc>
                        <a:spcBef>
                          <a:spcPts val="0"/>
                        </a:spcBef>
                        <a:spcAft>
                          <a:spcPts val="0"/>
                        </a:spcAft>
                        <a:buNone/>
                      </a:pPr>
                      <a:r>
                        <a:rPr lang="tr-TR" sz="1600" dirty="0">
                          <a:latin typeface="Times New Roman" panose="02020603050405020304" pitchFamily="18" charset="0"/>
                          <a:cs typeface="Times New Roman" panose="02020603050405020304" pitchFamily="18" charset="0"/>
                        </a:rPr>
                        <a:t>Otelin bulunduğu şehri belirten benzersiz bir numara.</a:t>
                      </a:r>
                      <a:endParaRPr lang="tr-T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8"/>
                  </a:ext>
                </a:extLst>
              </a:tr>
              <a:tr h="363326">
                <a:tc>
                  <a:txBody>
                    <a:bodyPr/>
                    <a:lstStyle/>
                    <a:p>
                      <a:pPr marL="0" marR="0" lvl="0" indent="0" algn="l" rtl="0">
                        <a:lnSpc>
                          <a:spcPct val="150000"/>
                        </a:lnSpc>
                        <a:spcBef>
                          <a:spcPts val="0"/>
                        </a:spcBef>
                        <a:spcAft>
                          <a:spcPts val="0"/>
                        </a:spcAft>
                        <a:buNone/>
                      </a:pPr>
                      <a:r>
                        <a:rPr lang="tr" sz="1600" u="none" strike="noStrike" cap="none">
                          <a:latin typeface="Times New Roman" panose="02020603050405020304" pitchFamily="18" charset="0"/>
                          <a:ea typeface="Times New Roman"/>
                          <a:cs typeface="Times New Roman" panose="02020603050405020304" pitchFamily="18" charset="0"/>
                          <a:sym typeface="Times New Roman"/>
                        </a:rPr>
                        <a:t>utrip_id</a:t>
                      </a:r>
                      <a:endParaRPr sz="16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00000"/>
                        </a:lnSpc>
                        <a:spcBef>
                          <a:spcPts val="0"/>
                        </a:spcBef>
                        <a:spcAft>
                          <a:spcPts val="0"/>
                        </a:spcAft>
                        <a:buNone/>
                      </a:pPr>
                      <a:r>
                        <a:rPr lang="tr-TR" sz="1600" dirty="0">
                          <a:latin typeface="Times New Roman" panose="02020603050405020304" pitchFamily="18" charset="0"/>
                          <a:cs typeface="Times New Roman" panose="02020603050405020304" pitchFamily="18" charset="0"/>
                        </a:rPr>
                        <a:t>Aynı seyahat içindeki birden fazla </a:t>
                      </a:r>
                      <a:r>
                        <a:rPr lang="tr-TR" sz="1600" dirty="0" err="1">
                          <a:latin typeface="Times New Roman" panose="02020603050405020304" pitchFamily="18" charset="0"/>
                          <a:cs typeface="Times New Roman" panose="02020603050405020304" pitchFamily="18" charset="0"/>
                        </a:rPr>
                        <a:t>destinasyonlu</a:t>
                      </a:r>
                      <a:r>
                        <a:rPr lang="tr-TR" sz="1600" dirty="0">
                          <a:latin typeface="Times New Roman" panose="02020603050405020304" pitchFamily="18" charset="0"/>
                          <a:cs typeface="Times New Roman" panose="02020603050405020304" pitchFamily="18" charset="0"/>
                        </a:rPr>
                        <a:t> rezervasyon grubunun benzersiz tanımlayıcısı.</a:t>
                      </a:r>
                      <a:endParaRPr lang="tr-T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09"/>
                  </a:ext>
                </a:extLst>
              </a:tr>
              <a:tr h="239852">
                <a:tc>
                  <a:txBody>
                    <a:bodyPr/>
                    <a:lstStyle/>
                    <a:p>
                      <a:pPr marL="0" marR="0" lvl="0" indent="0" algn="l" rtl="0">
                        <a:lnSpc>
                          <a:spcPct val="150000"/>
                        </a:lnSpc>
                        <a:spcBef>
                          <a:spcPts val="0"/>
                        </a:spcBef>
                        <a:spcAft>
                          <a:spcPts val="0"/>
                        </a:spcAft>
                        <a:buNone/>
                      </a:pPr>
                      <a:r>
                        <a:rPr lang="tr" sz="1600" b="1" u="none" strike="noStrike" cap="none">
                          <a:latin typeface="Times New Roman" panose="02020603050405020304" pitchFamily="18" charset="0"/>
                          <a:ea typeface="Times New Roman"/>
                          <a:cs typeface="Times New Roman" panose="02020603050405020304" pitchFamily="18" charset="0"/>
                          <a:sym typeface="Times New Roman"/>
                        </a:rPr>
                        <a:t>current_city</a:t>
                      </a:r>
                      <a:endParaRPr sz="1600" b="1"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50000"/>
                        </a:lnSpc>
                        <a:spcBef>
                          <a:spcPts val="0"/>
                        </a:spcBef>
                        <a:spcAft>
                          <a:spcPts val="0"/>
                        </a:spcAft>
                        <a:buNone/>
                      </a:pPr>
                      <a:r>
                        <a:rPr lang="tr" sz="1600" u="none" strike="noStrike" cap="none" dirty="0">
                          <a:latin typeface="Times New Roman" panose="02020603050405020304" pitchFamily="18" charset="0"/>
                          <a:ea typeface="Times New Roman"/>
                          <a:cs typeface="Times New Roman" panose="02020603050405020304" pitchFamily="18" charset="0"/>
                          <a:sym typeface="Times New Roman"/>
                        </a:rPr>
                        <a:t>City_id  kolonunun bilgisini tutar.</a:t>
                      </a:r>
                      <a:endParaRP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10"/>
                  </a:ext>
                </a:extLst>
              </a:tr>
              <a:tr h="239852">
                <a:tc>
                  <a:txBody>
                    <a:bodyPr/>
                    <a:lstStyle/>
                    <a:p>
                      <a:pPr marL="0" marR="0" lvl="0" indent="0" algn="l" rtl="0">
                        <a:lnSpc>
                          <a:spcPct val="150000"/>
                        </a:lnSpc>
                        <a:spcBef>
                          <a:spcPts val="0"/>
                        </a:spcBef>
                        <a:spcAft>
                          <a:spcPts val="0"/>
                        </a:spcAft>
                        <a:buNone/>
                      </a:pPr>
                      <a:r>
                        <a:rPr lang="tr" sz="1600" b="1" u="none" strike="noStrike" cap="none">
                          <a:latin typeface="Times New Roman" panose="02020603050405020304" pitchFamily="18" charset="0"/>
                          <a:ea typeface="Times New Roman"/>
                          <a:cs typeface="Times New Roman" panose="02020603050405020304" pitchFamily="18" charset="0"/>
                          <a:sym typeface="Times New Roman"/>
                        </a:rPr>
                        <a:t>next_city</a:t>
                      </a:r>
                      <a:endParaRPr sz="1600" b="1"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50000"/>
                        </a:lnSpc>
                        <a:spcBef>
                          <a:spcPts val="0"/>
                        </a:spcBef>
                        <a:spcAft>
                          <a:spcPts val="0"/>
                        </a:spcAft>
                        <a:buNone/>
                      </a:pPr>
                      <a:r>
                        <a:rPr lang="tr-TR" sz="1600" dirty="0"/>
                        <a:t>Mevcut her şehir için sonraki şehirleri tanımlar.</a:t>
                      </a:r>
                      <a:endParaRP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11"/>
                  </a:ext>
                </a:extLst>
              </a:tr>
              <a:tr h="512346">
                <a:tc>
                  <a:txBody>
                    <a:bodyPr/>
                    <a:lstStyle/>
                    <a:p>
                      <a:pPr marL="0" marR="0" lvl="0" indent="0" algn="l" rtl="0">
                        <a:lnSpc>
                          <a:spcPct val="150000"/>
                        </a:lnSpc>
                        <a:spcBef>
                          <a:spcPts val="0"/>
                        </a:spcBef>
                        <a:spcAft>
                          <a:spcPts val="0"/>
                        </a:spcAft>
                        <a:buNone/>
                      </a:pPr>
                      <a:r>
                        <a:rPr lang="tr" sz="1600" b="1" u="none" strike="noStrike" cap="none">
                          <a:latin typeface="Times New Roman" panose="02020603050405020304" pitchFamily="18" charset="0"/>
                          <a:ea typeface="Times New Roman"/>
                          <a:cs typeface="Times New Roman" panose="02020603050405020304" pitchFamily="18" charset="0"/>
                          <a:sym typeface="Times New Roman"/>
                        </a:rPr>
                        <a:t>pair_count</a:t>
                      </a:r>
                      <a:endParaRPr sz="1600" b="1"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00000"/>
                        </a:lnSpc>
                        <a:spcBef>
                          <a:spcPts val="0"/>
                        </a:spcBef>
                        <a:spcAft>
                          <a:spcPts val="0"/>
                        </a:spcAft>
                        <a:buNone/>
                      </a:pPr>
                      <a:r>
                        <a:rPr lang="tr-TR" sz="1600" dirty="0"/>
                        <a:t>Her ardışık </a:t>
                      </a:r>
                      <a:r>
                        <a:rPr lang="tr-TR" sz="1600" dirty="0" err="1"/>
                        <a:t>city_id</a:t>
                      </a:r>
                      <a:r>
                        <a:rPr lang="tr-TR" sz="1600" dirty="0"/>
                        <a:t> çiftinin oluşum sayısıdır. Veri kümesinde iki şehir arasındaki belirli bir geçişin ne sıklıkta gerçekleştiğini belirtir.</a:t>
                      </a:r>
                      <a:endParaRP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12"/>
                  </a:ext>
                </a:extLst>
              </a:tr>
              <a:tr h="239852">
                <a:tc>
                  <a:txBody>
                    <a:bodyPr/>
                    <a:lstStyle/>
                    <a:p>
                      <a:pPr marL="0" marR="0" lvl="0" indent="0" algn="l" rtl="0">
                        <a:lnSpc>
                          <a:spcPct val="150000"/>
                        </a:lnSpc>
                        <a:spcBef>
                          <a:spcPts val="0"/>
                        </a:spcBef>
                        <a:spcAft>
                          <a:spcPts val="0"/>
                        </a:spcAft>
                        <a:buNone/>
                      </a:pPr>
                      <a:r>
                        <a:rPr lang="tr" sz="1600" b="1" u="none" strike="noStrike" cap="none">
                          <a:latin typeface="Times New Roman" panose="02020603050405020304" pitchFamily="18" charset="0"/>
                          <a:ea typeface="Times New Roman"/>
                          <a:cs typeface="Times New Roman" panose="02020603050405020304" pitchFamily="18" charset="0"/>
                          <a:sym typeface="Times New Roman"/>
                        </a:rPr>
                        <a:t>probability</a:t>
                      </a:r>
                      <a:endParaRPr sz="1600" b="1" u="none" strike="noStrike" cap="none">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tc>
                  <a:txBody>
                    <a:bodyPr/>
                    <a:lstStyle/>
                    <a:p>
                      <a:pPr marL="0" marR="0" lvl="0" indent="0" algn="l" rtl="0">
                        <a:lnSpc>
                          <a:spcPct val="150000"/>
                        </a:lnSpc>
                        <a:spcBef>
                          <a:spcPts val="0"/>
                        </a:spcBef>
                        <a:spcAft>
                          <a:spcPts val="0"/>
                        </a:spcAft>
                        <a:buNone/>
                      </a:pPr>
                      <a:r>
                        <a:rPr lang="tr-TR" sz="1600" dirty="0"/>
                        <a:t>Her bir spesifik şehir çiftinin sayısının toplam çift sayısına oranı</a:t>
                      </a:r>
                      <a:endParaRPr sz="16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37400" marR="37400" marT="0" marB="0" anchor="ctr"/>
                </a:tc>
                <a:extLst>
                  <a:ext uri="{0D108BD9-81ED-4DB2-BD59-A6C34878D82A}">
                    <a16:rowId xmlns:a16="http://schemas.microsoft.com/office/drawing/2014/main" val="1001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23"/>
          <p:cNvPicPr preferRelativeResize="0"/>
          <p:nvPr/>
        </p:nvPicPr>
        <p:blipFill rotWithShape="1">
          <a:blip r:embed="rId3">
            <a:alphaModFix/>
          </a:blip>
          <a:srcRect/>
          <a:stretch/>
        </p:blipFill>
        <p:spPr>
          <a:xfrm>
            <a:off x="0" y="0"/>
            <a:ext cx="9144000" cy="5018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026" name="Picture 2">
            <a:extLst>
              <a:ext uri="{FF2B5EF4-FFF2-40B4-BE49-F238E27FC236}">
                <a16:creationId xmlns:a16="http://schemas.microsoft.com/office/drawing/2014/main" id="{295E7B3A-E42D-D9C5-E6E5-C0C2AAA909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0"/>
            <a:ext cx="399097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32"/>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graphicFrame>
        <p:nvGraphicFramePr>
          <p:cNvPr id="137" name="Google Shape;137;p26"/>
          <p:cNvGraphicFramePr/>
          <p:nvPr/>
        </p:nvGraphicFramePr>
        <p:xfrm>
          <a:off x="-2" y="106878"/>
          <a:ext cx="9144025" cy="5300655"/>
        </p:xfrm>
        <a:graphic>
          <a:graphicData uri="http://schemas.openxmlformats.org/drawingml/2006/table">
            <a:tbl>
              <a:tblPr bandRow="1">
                <a:noFill/>
                <a:tableStyleId>{51AB02EC-E335-4945-A716-73AA5839B56D}</a:tableStyleId>
              </a:tblPr>
              <a:tblGrid>
                <a:gridCol w="2672475">
                  <a:extLst>
                    <a:ext uri="{9D8B030D-6E8A-4147-A177-3AD203B41FA5}">
                      <a16:colId xmlns:a16="http://schemas.microsoft.com/office/drawing/2014/main" val="20000"/>
                    </a:ext>
                  </a:extLst>
                </a:gridCol>
                <a:gridCol w="2773675">
                  <a:extLst>
                    <a:ext uri="{9D8B030D-6E8A-4147-A177-3AD203B41FA5}">
                      <a16:colId xmlns:a16="http://schemas.microsoft.com/office/drawing/2014/main" val="20001"/>
                    </a:ext>
                  </a:extLst>
                </a:gridCol>
                <a:gridCol w="1835050">
                  <a:extLst>
                    <a:ext uri="{9D8B030D-6E8A-4147-A177-3AD203B41FA5}">
                      <a16:colId xmlns:a16="http://schemas.microsoft.com/office/drawing/2014/main" val="20002"/>
                    </a:ext>
                  </a:extLst>
                </a:gridCol>
                <a:gridCol w="1862825">
                  <a:extLst>
                    <a:ext uri="{9D8B030D-6E8A-4147-A177-3AD203B41FA5}">
                      <a16:colId xmlns:a16="http://schemas.microsoft.com/office/drawing/2014/main" val="20003"/>
                    </a:ext>
                  </a:extLst>
                </a:gridCol>
              </a:tblGrid>
              <a:tr h="282375">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Parameter</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Values</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Minimum Value</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Maximum Value</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0"/>
                  </a:ext>
                </a:extLst>
              </a:tr>
              <a:tr h="28237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Dropout Rate</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0,05</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1"/>
                  </a:ext>
                </a:extLst>
              </a:tr>
              <a:tr h="28237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Embedding Dimension</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32</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128</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2"/>
                  </a:ext>
                </a:extLst>
              </a:tr>
              <a:tr h="28237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Epochs</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24</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3"/>
                  </a:ext>
                </a:extLst>
              </a:tr>
              <a:tr h="28237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Gradient Accumulation</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4"/>
                  </a:ext>
                </a:extLst>
              </a:tr>
              <a:tr h="28237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Hidden Dimension</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512</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2048</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5"/>
                  </a:ext>
                </a:extLst>
              </a:tr>
              <a:tr h="28237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Learning Rate</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0,002</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5E-05</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6"/>
                  </a:ext>
                </a:extLst>
              </a:tr>
              <a:tr h="28237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Train Batch Size</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128</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512</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7"/>
                  </a:ext>
                </a:extLst>
              </a:tr>
              <a:tr h="28237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Workers</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16</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8"/>
                  </a:ext>
                </a:extLst>
              </a:tr>
              <a:tr h="85002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Optimizers</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Adam, SGD, AdamW, Nadam, RMSprop, Adagrad,  Adadelta</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09"/>
                  </a:ext>
                </a:extLst>
              </a:tr>
              <a:tr h="1553125">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Loss Function</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l"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CrossEntropyLoss, MseLoss, TripletMarginLoss, HingeEmbeddingLoss, BCEWithLogitLoss</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tc>
                  <a:txBody>
                    <a:bodyPr/>
                    <a:lstStyle/>
                    <a:p>
                      <a:pPr marL="0" marR="0" lvl="0" indent="0" algn="ctr" rtl="0">
                        <a:lnSpc>
                          <a:spcPct val="150000"/>
                        </a:lnSpc>
                        <a:spcBef>
                          <a:spcPts val="0"/>
                        </a:spcBef>
                        <a:spcAft>
                          <a:spcPts val="0"/>
                        </a:spcAft>
                        <a:buNone/>
                      </a:pPr>
                      <a:r>
                        <a:rPr lang="tr" sz="1600" u="none" strike="noStrike" cap="none">
                          <a:latin typeface="Times New Roman"/>
                          <a:ea typeface="Times New Roman"/>
                          <a:cs typeface="Times New Roman"/>
                          <a:sym typeface="Times New Roman"/>
                        </a:rPr>
                        <a:t>-</a:t>
                      </a:r>
                      <a:endParaRPr sz="1600" u="none" strike="noStrike" cap="none">
                        <a:latin typeface="Times New Roman"/>
                        <a:ea typeface="Times New Roman"/>
                        <a:cs typeface="Times New Roman"/>
                        <a:sym typeface="Times New Roman"/>
                      </a:endParaRPr>
                    </a:p>
                  </a:txBody>
                  <a:tcPr marL="66325" marR="66325" marT="0" marB="0" anchor="ctr"/>
                </a:tc>
                <a:extLst>
                  <a:ext uri="{0D108BD9-81ED-4DB2-BD59-A6C34878D82A}">
                    <a16:rowId xmlns:a16="http://schemas.microsoft.com/office/drawing/2014/main" val="1001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fontScale="90000"/>
          </a:bodyPr>
          <a:lstStyle/>
          <a:p>
            <a:pPr marL="0" lvl="0" indent="0" algn="ctr" rtl="0">
              <a:lnSpc>
                <a:spcPct val="115000"/>
              </a:lnSpc>
              <a:spcBef>
                <a:spcPts val="0"/>
              </a:spcBef>
              <a:spcAft>
                <a:spcPts val="1500"/>
              </a:spcAft>
              <a:buClr>
                <a:schemeClr val="dk1"/>
              </a:buClr>
              <a:buSzPts val="1100"/>
              <a:buFont typeface="Arial"/>
              <a:buNone/>
            </a:pPr>
            <a:r>
              <a:rPr lang="tr" sz="3000" b="1" dirty="0">
                <a:solidFill>
                  <a:srgbClr val="0D0D0D"/>
                </a:solidFill>
                <a:highlight>
                  <a:srgbClr val="FFFFFF"/>
                </a:highlight>
                <a:latin typeface="Times New Roman"/>
                <a:ea typeface="Times New Roman"/>
                <a:cs typeface="Times New Roman"/>
                <a:sym typeface="Times New Roman"/>
              </a:rPr>
              <a:t>DENEYSEL SONUÇLAR</a:t>
            </a:r>
            <a:endParaRPr sz="3000" b="1" dirty="0">
              <a:latin typeface="Times New Roman"/>
              <a:ea typeface="Times New Roman"/>
              <a:cs typeface="Times New Roman"/>
              <a:sym typeface="Times New Roman"/>
            </a:endParaRPr>
          </a:p>
        </p:txBody>
      </p:sp>
      <p:sp>
        <p:nvSpPr>
          <p:cNvPr id="143" name="Google Shape;143;p27"/>
          <p:cNvSpPr txBox="1"/>
          <p:nvPr/>
        </p:nvSpPr>
        <p:spPr>
          <a:xfrm>
            <a:off x="502075" y="1372350"/>
            <a:ext cx="8278800" cy="286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tr" sz="1800">
                <a:solidFill>
                  <a:schemeClr val="dk1"/>
                </a:solidFill>
                <a:latin typeface="Open Sans"/>
                <a:ea typeface="Open Sans"/>
                <a:cs typeface="Open Sans"/>
                <a:sym typeface="Open Sans"/>
              </a:rPr>
              <a:t>-Veri Deneyleri</a:t>
            </a:r>
            <a:endParaRPr sz="1800">
              <a:solidFill>
                <a:schemeClr val="dk1"/>
              </a:solidFill>
              <a:latin typeface="Open Sans"/>
              <a:ea typeface="Open Sans"/>
              <a:cs typeface="Open Sans"/>
              <a:sym typeface="Open Sans"/>
            </a:endParaRPr>
          </a:p>
          <a:p>
            <a:pPr marL="0" lvl="0" indent="0" algn="l" rtl="0">
              <a:lnSpc>
                <a:spcPct val="115000"/>
              </a:lnSpc>
              <a:spcBef>
                <a:spcPts val="1200"/>
              </a:spcBef>
              <a:spcAft>
                <a:spcPts val="0"/>
              </a:spcAft>
              <a:buClr>
                <a:schemeClr val="dk1"/>
              </a:buClr>
              <a:buSzPts val="1100"/>
              <a:buFont typeface="Arial"/>
              <a:buNone/>
            </a:pPr>
            <a:r>
              <a:rPr lang="tr" sz="1800">
                <a:solidFill>
                  <a:schemeClr val="dk1"/>
                </a:solidFill>
                <a:latin typeface="Open Sans"/>
                <a:ea typeface="Open Sans"/>
                <a:cs typeface="Open Sans"/>
                <a:sym typeface="Open Sans"/>
              </a:rPr>
              <a:t>-Model ve Mimari Deneyleri</a:t>
            </a:r>
            <a:endParaRPr sz="1800">
              <a:solidFill>
                <a:schemeClr val="dk1"/>
              </a:solidFill>
              <a:latin typeface="Open Sans"/>
              <a:ea typeface="Open Sans"/>
              <a:cs typeface="Open Sans"/>
              <a:sym typeface="Open Sans"/>
            </a:endParaRPr>
          </a:p>
          <a:p>
            <a:pPr marL="0" lvl="0" indent="0" algn="l" rtl="0">
              <a:lnSpc>
                <a:spcPct val="115000"/>
              </a:lnSpc>
              <a:spcBef>
                <a:spcPts val="1200"/>
              </a:spcBef>
              <a:spcAft>
                <a:spcPts val="1200"/>
              </a:spcAft>
              <a:buClr>
                <a:schemeClr val="dk1"/>
              </a:buClr>
              <a:buSzPts val="1100"/>
              <a:buFont typeface="Arial"/>
              <a:buNone/>
            </a:pPr>
            <a:r>
              <a:rPr lang="tr" sz="1800">
                <a:solidFill>
                  <a:schemeClr val="dk1"/>
                </a:solidFill>
                <a:latin typeface="Open Sans"/>
                <a:ea typeface="Open Sans"/>
                <a:cs typeface="Open Sans"/>
                <a:sym typeface="Open Sans"/>
              </a:rPr>
              <a:t>-Hiperparametre Ayarlama Deneyleri</a:t>
            </a:r>
            <a:endParaRPr sz="1800">
              <a:solidFill>
                <a:schemeClr val="dk1"/>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graphicFrame>
        <p:nvGraphicFramePr>
          <p:cNvPr id="148" name="Google Shape;148;p28"/>
          <p:cNvGraphicFramePr/>
          <p:nvPr/>
        </p:nvGraphicFramePr>
        <p:xfrm>
          <a:off x="7" y="-12"/>
          <a:ext cx="9144025" cy="5066900"/>
        </p:xfrm>
        <a:graphic>
          <a:graphicData uri="http://schemas.openxmlformats.org/drawingml/2006/table">
            <a:tbl>
              <a:tblPr firstRow="1" firstCol="1" bandRow="1">
                <a:noFill/>
                <a:tableStyleId>{51AB02EC-E335-4945-A716-73AA5839B56D}</a:tableStyleId>
              </a:tblPr>
              <a:tblGrid>
                <a:gridCol w="5732175">
                  <a:extLst>
                    <a:ext uri="{9D8B030D-6E8A-4147-A177-3AD203B41FA5}">
                      <a16:colId xmlns:a16="http://schemas.microsoft.com/office/drawing/2014/main" val="20000"/>
                    </a:ext>
                  </a:extLst>
                </a:gridCol>
                <a:gridCol w="1286500">
                  <a:extLst>
                    <a:ext uri="{9D8B030D-6E8A-4147-A177-3AD203B41FA5}">
                      <a16:colId xmlns:a16="http://schemas.microsoft.com/office/drawing/2014/main" val="20001"/>
                    </a:ext>
                  </a:extLst>
                </a:gridCol>
                <a:gridCol w="2125350">
                  <a:extLst>
                    <a:ext uri="{9D8B030D-6E8A-4147-A177-3AD203B41FA5}">
                      <a16:colId xmlns:a16="http://schemas.microsoft.com/office/drawing/2014/main" val="20002"/>
                    </a:ext>
                  </a:extLst>
                </a:gridCol>
              </a:tblGrid>
              <a:tr h="1266725">
                <a:tc>
                  <a:txBody>
                    <a:bodyPr/>
                    <a:lstStyle/>
                    <a:p>
                      <a:pPr marL="0" marR="0" lvl="0" indent="0" algn="l" rtl="0">
                        <a:lnSpc>
                          <a:spcPct val="150000"/>
                        </a:lnSpc>
                        <a:spcBef>
                          <a:spcPts val="0"/>
                        </a:spcBef>
                        <a:spcAft>
                          <a:spcPts val="0"/>
                        </a:spcAft>
                        <a:buNone/>
                      </a:pPr>
                      <a:r>
                        <a:rPr lang="tr" sz="2000">
                          <a:latin typeface="Times New Roman"/>
                          <a:ea typeface="Times New Roman"/>
                          <a:cs typeface="Times New Roman"/>
                          <a:sym typeface="Times New Roman"/>
                        </a:rPr>
                        <a:t>Veri Deneyleri</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sz="2000">
                          <a:latin typeface="Times New Roman"/>
                          <a:ea typeface="Times New Roman"/>
                          <a:cs typeface="Times New Roman"/>
                          <a:sym typeface="Times New Roman"/>
                        </a:rPr>
                        <a:t>Skor</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sz="2000">
                          <a:latin typeface="Times New Roman"/>
                          <a:ea typeface="Times New Roman"/>
                          <a:cs typeface="Times New Roman"/>
                          <a:sym typeface="Times New Roman"/>
                        </a:rPr>
                        <a:t>Çalışma Zamanı</a:t>
                      </a:r>
                      <a:endParaRPr sz="20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0"/>
                  </a:ext>
                </a:extLst>
              </a:tr>
              <a:tr h="1266725">
                <a:tc>
                  <a:txBody>
                    <a:bodyPr/>
                    <a:lstStyle/>
                    <a:p>
                      <a:pPr marL="0" marR="0" lvl="0" indent="0" algn="l" rtl="0">
                        <a:lnSpc>
                          <a:spcPct val="150000"/>
                        </a:lnSpc>
                        <a:spcBef>
                          <a:spcPts val="0"/>
                        </a:spcBef>
                        <a:spcAft>
                          <a:spcPts val="0"/>
                        </a:spcAft>
                        <a:buNone/>
                      </a:pPr>
                      <a:r>
                        <a:rPr lang="tr" sz="2000">
                          <a:latin typeface="Times New Roman"/>
                          <a:ea typeface="Times New Roman"/>
                          <a:cs typeface="Times New Roman"/>
                          <a:sym typeface="Times New Roman"/>
                        </a:rPr>
                        <a:t>Başlangıç Modeliyle Veri Arttırımı 1. İterasyon</a:t>
                      </a:r>
                      <a:r>
                        <a:rPr lang="tr" sz="2000" u="none" strike="noStrike" cap="none">
                          <a:latin typeface="Times New Roman"/>
                          <a:ea typeface="Times New Roman"/>
                          <a:cs typeface="Times New Roman"/>
                          <a:sym typeface="Times New Roman"/>
                        </a:rPr>
                        <a:t> </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0.554759</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35 m 48 s</a:t>
                      </a:r>
                      <a:endParaRPr sz="20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1"/>
                  </a:ext>
                </a:extLst>
              </a:tr>
              <a:tr h="1266725">
                <a:tc>
                  <a:txBody>
                    <a:bodyPr/>
                    <a:lstStyle/>
                    <a:p>
                      <a:pPr marL="0" lvl="0" indent="0" algn="l" rtl="0">
                        <a:lnSpc>
                          <a:spcPct val="150000"/>
                        </a:lnSpc>
                        <a:spcBef>
                          <a:spcPts val="0"/>
                        </a:spcBef>
                        <a:spcAft>
                          <a:spcPts val="0"/>
                        </a:spcAft>
                        <a:buClr>
                          <a:schemeClr val="dk1"/>
                        </a:buClr>
                        <a:buFont typeface="Arial"/>
                        <a:buNone/>
                      </a:pPr>
                      <a:r>
                        <a:rPr lang="tr" sz="2000">
                          <a:solidFill>
                            <a:schemeClr val="lt1"/>
                          </a:solidFill>
                          <a:latin typeface="Times New Roman"/>
                          <a:ea typeface="Times New Roman"/>
                          <a:cs typeface="Times New Roman"/>
                          <a:sym typeface="Times New Roman"/>
                        </a:rPr>
                        <a:t>Başlangıç Modeliyle Veri Arttırımı 2. İterasyon </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0.548075</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36 m 11 s</a:t>
                      </a:r>
                      <a:endParaRPr sz="20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2"/>
                  </a:ext>
                </a:extLst>
              </a:tr>
              <a:tr h="1266725">
                <a:tc>
                  <a:txBody>
                    <a:bodyPr/>
                    <a:lstStyle/>
                    <a:p>
                      <a:pPr marL="0" lvl="0" indent="0" algn="l" rtl="0">
                        <a:lnSpc>
                          <a:spcPct val="150000"/>
                        </a:lnSpc>
                        <a:spcBef>
                          <a:spcPts val="0"/>
                        </a:spcBef>
                        <a:spcAft>
                          <a:spcPts val="0"/>
                        </a:spcAft>
                        <a:buClr>
                          <a:schemeClr val="dk1"/>
                        </a:buClr>
                        <a:buFont typeface="Arial"/>
                        <a:buNone/>
                      </a:pPr>
                      <a:r>
                        <a:rPr lang="tr" sz="2000">
                          <a:solidFill>
                            <a:schemeClr val="lt1"/>
                          </a:solidFill>
                          <a:latin typeface="Times New Roman"/>
                          <a:ea typeface="Times New Roman"/>
                          <a:cs typeface="Times New Roman"/>
                          <a:sym typeface="Times New Roman"/>
                        </a:rPr>
                        <a:t>Başlangıç Modeliyle Veri Arttırımı 3. İterasyon </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0.545146</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36 m 43 s</a:t>
                      </a:r>
                      <a:endParaRPr sz="20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52"/>
        <p:cNvGrpSpPr/>
        <p:nvPr/>
      </p:nvGrpSpPr>
      <p:grpSpPr>
        <a:xfrm>
          <a:off x="0" y="0"/>
          <a:ext cx="0" cy="0"/>
          <a:chOff x="0" y="0"/>
          <a:chExt cx="0" cy="0"/>
        </a:xfrm>
      </p:grpSpPr>
      <p:graphicFrame>
        <p:nvGraphicFramePr>
          <p:cNvPr id="153" name="Google Shape;153;p29"/>
          <p:cNvGraphicFramePr/>
          <p:nvPr/>
        </p:nvGraphicFramePr>
        <p:xfrm>
          <a:off x="61" y="-6"/>
          <a:ext cx="9144000" cy="5027350"/>
        </p:xfrm>
        <a:graphic>
          <a:graphicData uri="http://schemas.openxmlformats.org/drawingml/2006/table">
            <a:tbl>
              <a:tblPr firstRow="1" firstCol="1" bandRow="1">
                <a:noFill/>
                <a:tableStyleId>{51AB02EC-E335-4945-A716-73AA5839B56D}</a:tableStyleId>
              </a:tblPr>
              <a:tblGrid>
                <a:gridCol w="1950800">
                  <a:extLst>
                    <a:ext uri="{9D8B030D-6E8A-4147-A177-3AD203B41FA5}">
                      <a16:colId xmlns:a16="http://schemas.microsoft.com/office/drawing/2014/main" val="20000"/>
                    </a:ext>
                  </a:extLst>
                </a:gridCol>
                <a:gridCol w="1128500">
                  <a:extLst>
                    <a:ext uri="{9D8B030D-6E8A-4147-A177-3AD203B41FA5}">
                      <a16:colId xmlns:a16="http://schemas.microsoft.com/office/drawing/2014/main" val="20001"/>
                    </a:ext>
                  </a:extLst>
                </a:gridCol>
                <a:gridCol w="1128500">
                  <a:extLst>
                    <a:ext uri="{9D8B030D-6E8A-4147-A177-3AD203B41FA5}">
                      <a16:colId xmlns:a16="http://schemas.microsoft.com/office/drawing/2014/main" val="20002"/>
                    </a:ext>
                  </a:extLst>
                </a:gridCol>
                <a:gridCol w="1128500">
                  <a:extLst>
                    <a:ext uri="{9D8B030D-6E8A-4147-A177-3AD203B41FA5}">
                      <a16:colId xmlns:a16="http://schemas.microsoft.com/office/drawing/2014/main" val="20003"/>
                    </a:ext>
                  </a:extLst>
                </a:gridCol>
                <a:gridCol w="1128500">
                  <a:extLst>
                    <a:ext uri="{9D8B030D-6E8A-4147-A177-3AD203B41FA5}">
                      <a16:colId xmlns:a16="http://schemas.microsoft.com/office/drawing/2014/main" val="20004"/>
                    </a:ext>
                  </a:extLst>
                </a:gridCol>
                <a:gridCol w="1128500">
                  <a:extLst>
                    <a:ext uri="{9D8B030D-6E8A-4147-A177-3AD203B41FA5}">
                      <a16:colId xmlns:a16="http://schemas.microsoft.com/office/drawing/2014/main" val="20005"/>
                    </a:ext>
                  </a:extLst>
                </a:gridCol>
                <a:gridCol w="1550700">
                  <a:extLst>
                    <a:ext uri="{9D8B030D-6E8A-4147-A177-3AD203B41FA5}">
                      <a16:colId xmlns:a16="http://schemas.microsoft.com/office/drawing/2014/main" val="20006"/>
                    </a:ext>
                  </a:extLst>
                </a:gridCol>
              </a:tblGrid>
              <a:tr h="1457750">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 </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Fold 0 </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Fold 1</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Fold 2</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Fold 3</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Fold 4</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a:latin typeface="Times New Roman"/>
                          <a:ea typeface="Times New Roman"/>
                          <a:cs typeface="Times New Roman"/>
                          <a:sym typeface="Times New Roman"/>
                        </a:rPr>
                        <a:t>Toplam Satır Sayısı</a:t>
                      </a:r>
                      <a:endParaRPr sz="20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0"/>
                  </a:ext>
                </a:extLst>
              </a:tr>
              <a:tr h="892400">
                <a:tc>
                  <a:txBody>
                    <a:bodyPr/>
                    <a:lstStyle/>
                    <a:p>
                      <a:pPr marL="0" marR="0" lvl="0" indent="0" algn="ctr" rtl="0">
                        <a:lnSpc>
                          <a:spcPct val="150000"/>
                        </a:lnSpc>
                        <a:spcBef>
                          <a:spcPts val="0"/>
                        </a:spcBef>
                        <a:spcAft>
                          <a:spcPts val="0"/>
                        </a:spcAft>
                        <a:buNone/>
                      </a:pPr>
                      <a:r>
                        <a:rPr lang="tr" sz="2000">
                          <a:latin typeface="Times New Roman"/>
                          <a:ea typeface="Times New Roman"/>
                          <a:cs typeface="Times New Roman"/>
                          <a:sym typeface="Times New Roman"/>
                        </a:rPr>
                        <a:t>Başlangıç Verisi</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313 649</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309 164</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305 575</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307 546</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307 568</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1 545 502</a:t>
                      </a:r>
                      <a:endParaRPr sz="20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1"/>
                  </a:ext>
                </a:extLst>
              </a:tr>
              <a:tr h="892400">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1. </a:t>
                      </a:r>
                      <a:r>
                        <a:rPr lang="tr" sz="2000">
                          <a:latin typeface="Times New Roman"/>
                          <a:ea typeface="Times New Roman"/>
                          <a:cs typeface="Times New Roman"/>
                          <a:sym typeface="Times New Roman"/>
                        </a:rPr>
                        <a:t>İterasyon Verisi</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386 021</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381 545</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379 998</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379 952</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379 950</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1 907 466</a:t>
                      </a:r>
                      <a:endParaRPr sz="20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2"/>
                  </a:ext>
                </a:extLst>
              </a:tr>
              <a:tr h="892400">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2. </a:t>
                      </a:r>
                      <a:r>
                        <a:rPr lang="tr" sz="2000">
                          <a:solidFill>
                            <a:schemeClr val="lt1"/>
                          </a:solidFill>
                          <a:latin typeface="Times New Roman"/>
                          <a:ea typeface="Times New Roman"/>
                          <a:cs typeface="Times New Roman"/>
                          <a:sym typeface="Times New Roman"/>
                        </a:rPr>
                        <a:t>İterasyon Verisi</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423 893</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419 386</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417 851</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417 789</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417 762</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2 096 681</a:t>
                      </a:r>
                      <a:endParaRPr sz="20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3"/>
                  </a:ext>
                </a:extLst>
              </a:tr>
              <a:tr h="892400">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3. </a:t>
                      </a:r>
                      <a:r>
                        <a:rPr lang="tr" sz="2000">
                          <a:solidFill>
                            <a:schemeClr val="lt1"/>
                          </a:solidFill>
                          <a:latin typeface="Times New Roman"/>
                          <a:ea typeface="Times New Roman"/>
                          <a:cs typeface="Times New Roman"/>
                          <a:sym typeface="Times New Roman"/>
                        </a:rPr>
                        <a:t>İterasyon Verisi</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439 037</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434 512</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432 983</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432 895</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432 855</a:t>
                      </a:r>
                      <a:endParaRPr sz="2000"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ctr" rtl="0">
                        <a:lnSpc>
                          <a:spcPct val="150000"/>
                        </a:lnSpc>
                        <a:spcBef>
                          <a:spcPts val="0"/>
                        </a:spcBef>
                        <a:spcAft>
                          <a:spcPts val="0"/>
                        </a:spcAft>
                        <a:buNone/>
                      </a:pPr>
                      <a:r>
                        <a:rPr lang="tr" sz="2000" u="none" strike="noStrike" cap="none">
                          <a:latin typeface="Times New Roman"/>
                          <a:ea typeface="Times New Roman"/>
                          <a:cs typeface="Times New Roman"/>
                          <a:sym typeface="Times New Roman"/>
                        </a:rPr>
                        <a:t>2 172 282</a:t>
                      </a:r>
                      <a:endParaRPr sz="20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graphicFrame>
        <p:nvGraphicFramePr>
          <p:cNvPr id="158" name="Google Shape;158;p30"/>
          <p:cNvGraphicFramePr/>
          <p:nvPr/>
        </p:nvGraphicFramePr>
        <p:xfrm>
          <a:off x="-4" y="10"/>
          <a:ext cx="9144000" cy="5127730"/>
        </p:xfrm>
        <a:graphic>
          <a:graphicData uri="http://schemas.openxmlformats.org/drawingml/2006/table">
            <a:tbl>
              <a:tblPr firstRow="1" firstCol="1" bandRow="1">
                <a:noFill/>
                <a:tableStyleId>{51AB02EC-E335-4945-A716-73AA5839B56D}</a:tableStyleId>
              </a:tblPr>
              <a:tblGrid>
                <a:gridCol w="3163500">
                  <a:extLst>
                    <a:ext uri="{9D8B030D-6E8A-4147-A177-3AD203B41FA5}">
                      <a16:colId xmlns:a16="http://schemas.microsoft.com/office/drawing/2014/main" val="20000"/>
                    </a:ext>
                  </a:extLst>
                </a:gridCol>
                <a:gridCol w="1364800">
                  <a:extLst>
                    <a:ext uri="{9D8B030D-6E8A-4147-A177-3AD203B41FA5}">
                      <a16:colId xmlns:a16="http://schemas.microsoft.com/office/drawing/2014/main" val="20001"/>
                    </a:ext>
                  </a:extLst>
                </a:gridCol>
                <a:gridCol w="1840000">
                  <a:extLst>
                    <a:ext uri="{9D8B030D-6E8A-4147-A177-3AD203B41FA5}">
                      <a16:colId xmlns:a16="http://schemas.microsoft.com/office/drawing/2014/main" val="20002"/>
                    </a:ext>
                  </a:extLst>
                </a:gridCol>
                <a:gridCol w="1340475">
                  <a:extLst>
                    <a:ext uri="{9D8B030D-6E8A-4147-A177-3AD203B41FA5}">
                      <a16:colId xmlns:a16="http://schemas.microsoft.com/office/drawing/2014/main" val="20003"/>
                    </a:ext>
                  </a:extLst>
                </a:gridCol>
                <a:gridCol w="1435225">
                  <a:extLst>
                    <a:ext uri="{9D8B030D-6E8A-4147-A177-3AD203B41FA5}">
                      <a16:colId xmlns:a16="http://schemas.microsoft.com/office/drawing/2014/main" val="20004"/>
                    </a:ext>
                  </a:extLst>
                </a:gridCol>
              </a:tblGrid>
              <a:tr h="632500">
                <a:tc>
                  <a:txBody>
                    <a:bodyPr/>
                    <a:lstStyle/>
                    <a:p>
                      <a:pPr marL="0" marR="0" lvl="0" indent="0" algn="l" rtl="0">
                        <a:lnSpc>
                          <a:spcPct val="150000"/>
                        </a:lnSpc>
                        <a:spcBef>
                          <a:spcPts val="0"/>
                        </a:spcBef>
                        <a:spcAft>
                          <a:spcPts val="0"/>
                        </a:spcAft>
                        <a:buNone/>
                      </a:pPr>
                      <a:r>
                        <a:rPr lang="tr">
                          <a:latin typeface="Times New Roman"/>
                          <a:ea typeface="Times New Roman"/>
                          <a:cs typeface="Times New Roman"/>
                          <a:sym typeface="Times New Roman"/>
                        </a:rPr>
                        <a:t>Deney Adı</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a:latin typeface="Times New Roman"/>
                          <a:ea typeface="Times New Roman"/>
                          <a:cs typeface="Times New Roman"/>
                          <a:sym typeface="Times New Roman"/>
                        </a:rPr>
                        <a:t>Skor</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a:latin typeface="Times New Roman"/>
                          <a:ea typeface="Times New Roman"/>
                          <a:cs typeface="Times New Roman"/>
                          <a:sym typeface="Times New Roman"/>
                        </a:rPr>
                        <a:t>Çalışma Zamanı</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TR_loss</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VL_loss</a:t>
                      </a:r>
                      <a:endParaRPr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0"/>
                  </a:ext>
                </a:extLst>
              </a:tr>
              <a:tr h="304150">
                <a:tc>
                  <a:txBody>
                    <a:bodyPr/>
                    <a:lstStyle/>
                    <a:p>
                      <a:pPr marL="0" marR="0" lvl="0" indent="0" algn="l" rtl="0">
                        <a:lnSpc>
                          <a:spcPct val="150000"/>
                        </a:lnSpc>
                        <a:spcBef>
                          <a:spcPts val="0"/>
                        </a:spcBef>
                        <a:spcAft>
                          <a:spcPts val="0"/>
                        </a:spcAft>
                        <a:buNone/>
                      </a:pPr>
                      <a:r>
                        <a:rPr lang="tr">
                          <a:latin typeface="Times New Roman"/>
                          <a:ea typeface="Times New Roman"/>
                          <a:cs typeface="Times New Roman"/>
                          <a:sym typeface="Times New Roman"/>
                        </a:rPr>
                        <a:t>Başlangıç Verisi Başlangıç Modeli</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0.566712</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26 m 51 s</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2.902</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3.022</a:t>
                      </a:r>
                      <a:endParaRPr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1"/>
                  </a:ext>
                </a:extLst>
              </a:tr>
              <a:tr h="746875">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1 FC Layer </a:t>
                      </a:r>
                      <a:r>
                        <a:rPr lang="tr">
                          <a:latin typeface="Times New Roman"/>
                          <a:ea typeface="Times New Roman"/>
                          <a:cs typeface="Times New Roman"/>
                          <a:sym typeface="Times New Roman"/>
                        </a:rPr>
                        <a:t>Eklenmiş Model (</a:t>
                      </a:r>
                      <a:r>
                        <a:rPr lang="tr" u="none" strike="noStrike" cap="none">
                          <a:latin typeface="Times New Roman"/>
                          <a:ea typeface="Times New Roman"/>
                          <a:cs typeface="Times New Roman"/>
                          <a:sym typeface="Times New Roman"/>
                        </a:rPr>
                        <a:t>Linear21)</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0.567328</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27 m 4 s</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2.930</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3.009</a:t>
                      </a:r>
                      <a:endParaRPr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2"/>
                  </a:ext>
                </a:extLst>
              </a:tr>
              <a:tr h="746875">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2 FC Layers </a:t>
                      </a:r>
                      <a:r>
                        <a:rPr lang="tr">
                          <a:latin typeface="Times New Roman"/>
                          <a:ea typeface="Times New Roman"/>
                          <a:cs typeface="Times New Roman"/>
                          <a:sym typeface="Times New Roman"/>
                        </a:rPr>
                        <a:t>Eklenmiş Model (</a:t>
                      </a:r>
                      <a:r>
                        <a:rPr lang="tr" u="none" strike="noStrike" cap="none">
                          <a:latin typeface="Times New Roman"/>
                          <a:ea typeface="Times New Roman"/>
                          <a:cs typeface="Times New Roman"/>
                          <a:sym typeface="Times New Roman"/>
                        </a:rPr>
                        <a:t>Linear21 Linear22)</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0.565918</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27 m 33s</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2.966</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3.009</a:t>
                      </a:r>
                      <a:endParaRPr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3"/>
                  </a:ext>
                </a:extLst>
              </a:tr>
              <a:tr h="566500">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1 FC Layer </a:t>
                      </a:r>
                      <a:r>
                        <a:rPr lang="tr">
                          <a:latin typeface="Times New Roman"/>
                          <a:ea typeface="Times New Roman"/>
                          <a:cs typeface="Times New Roman"/>
                          <a:sym typeface="Times New Roman"/>
                        </a:rPr>
                        <a:t>Çıkarılmış Model (Orta Katman)</a:t>
                      </a:r>
                      <a:r>
                        <a:rPr lang="tr" u="none" strike="noStrike" cap="none">
                          <a:latin typeface="Times New Roman"/>
                          <a:ea typeface="Times New Roman"/>
                          <a:cs typeface="Times New Roman"/>
                          <a:sym typeface="Times New Roman"/>
                        </a:rPr>
                        <a:t> </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0.562569</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37 m 4s</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2.906</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3.076</a:t>
                      </a:r>
                      <a:endParaRPr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4"/>
                  </a:ext>
                </a:extLst>
              </a:tr>
              <a:tr h="566500">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1 FC Layer </a:t>
                      </a:r>
                      <a:r>
                        <a:rPr lang="tr">
                          <a:latin typeface="Times New Roman"/>
                          <a:ea typeface="Times New Roman"/>
                          <a:cs typeface="Times New Roman"/>
                          <a:sym typeface="Times New Roman"/>
                        </a:rPr>
                        <a:t>Çıkarılmış Model (</a:t>
                      </a:r>
                      <a:r>
                        <a:rPr lang="tr" u="none" strike="noStrike" cap="none">
                          <a:latin typeface="Times New Roman"/>
                          <a:ea typeface="Times New Roman"/>
                          <a:cs typeface="Times New Roman"/>
                          <a:sym typeface="Times New Roman"/>
                        </a:rPr>
                        <a:t>3</a:t>
                      </a:r>
                      <a:r>
                        <a:rPr lang="tr">
                          <a:latin typeface="Times New Roman"/>
                          <a:ea typeface="Times New Roman"/>
                          <a:cs typeface="Times New Roman"/>
                          <a:sym typeface="Times New Roman"/>
                        </a:rPr>
                        <a:t>. Katman)</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0.540499</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39 m 7 s</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3.271</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3.215</a:t>
                      </a:r>
                      <a:endParaRPr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5"/>
                  </a:ext>
                </a:extLst>
              </a:tr>
              <a:tr h="746875">
                <a:tc>
                  <a:txBody>
                    <a:bodyPr/>
                    <a:lstStyle/>
                    <a:p>
                      <a:pPr marL="0" marR="0" lvl="0" indent="0" algn="l" rtl="0">
                        <a:lnSpc>
                          <a:spcPct val="150000"/>
                        </a:lnSpc>
                        <a:spcBef>
                          <a:spcPts val="0"/>
                        </a:spcBef>
                        <a:spcAft>
                          <a:spcPts val="0"/>
                        </a:spcAft>
                        <a:buNone/>
                      </a:pPr>
                      <a:r>
                        <a:rPr lang="tr">
                          <a:latin typeface="Times New Roman"/>
                          <a:ea typeface="Times New Roman"/>
                          <a:cs typeface="Times New Roman"/>
                          <a:sym typeface="Times New Roman"/>
                        </a:rPr>
                        <a:t>2. </a:t>
                      </a:r>
                      <a:r>
                        <a:rPr lang="tr" u="none" strike="noStrike" cap="none">
                          <a:latin typeface="Times New Roman"/>
                          <a:ea typeface="Times New Roman"/>
                          <a:cs typeface="Times New Roman"/>
                          <a:sym typeface="Times New Roman"/>
                        </a:rPr>
                        <a:t>FC Layer </a:t>
                      </a:r>
                      <a:r>
                        <a:rPr lang="tr">
                          <a:latin typeface="Times New Roman"/>
                          <a:ea typeface="Times New Roman"/>
                          <a:cs typeface="Times New Roman"/>
                          <a:sym typeface="Times New Roman"/>
                        </a:rPr>
                        <a:t>Çıkarılmış </a:t>
                      </a:r>
                      <a:r>
                        <a:rPr lang="tr" u="none" strike="noStrike" cap="none">
                          <a:latin typeface="Times New Roman"/>
                          <a:ea typeface="Times New Roman"/>
                          <a:cs typeface="Times New Roman"/>
                          <a:sym typeface="Times New Roman"/>
                        </a:rPr>
                        <a:t>GRU </a:t>
                      </a:r>
                      <a:r>
                        <a:rPr lang="tr">
                          <a:latin typeface="Times New Roman"/>
                          <a:ea typeface="Times New Roman"/>
                          <a:cs typeface="Times New Roman"/>
                          <a:sym typeface="Times New Roman"/>
                        </a:rPr>
                        <a:t>Eklenmiş Model</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0.561364</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 h 6 m 9 s</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2.917</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3.054</a:t>
                      </a:r>
                      <a:endParaRPr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6"/>
                  </a:ext>
                </a:extLst>
              </a:tr>
              <a:tr h="746875">
                <a:tc>
                  <a:txBody>
                    <a:bodyPr/>
                    <a:lstStyle/>
                    <a:p>
                      <a:pPr marL="0" marR="0" lvl="0" indent="0" algn="l" rtl="0">
                        <a:lnSpc>
                          <a:spcPct val="150000"/>
                        </a:lnSpc>
                        <a:spcBef>
                          <a:spcPts val="0"/>
                        </a:spcBef>
                        <a:spcAft>
                          <a:spcPts val="0"/>
                        </a:spcAft>
                        <a:buNone/>
                      </a:pPr>
                      <a:r>
                        <a:rPr lang="tr">
                          <a:latin typeface="Times New Roman"/>
                          <a:ea typeface="Times New Roman"/>
                          <a:cs typeface="Times New Roman"/>
                          <a:sym typeface="Times New Roman"/>
                        </a:rPr>
                        <a:t>2.</a:t>
                      </a:r>
                      <a:r>
                        <a:rPr lang="tr" u="none" strike="noStrike" cap="none">
                          <a:latin typeface="Times New Roman"/>
                          <a:ea typeface="Times New Roman"/>
                          <a:cs typeface="Times New Roman"/>
                          <a:sym typeface="Times New Roman"/>
                        </a:rPr>
                        <a:t>FC Layer </a:t>
                      </a:r>
                      <a:r>
                        <a:rPr lang="tr">
                          <a:latin typeface="Times New Roman"/>
                          <a:ea typeface="Times New Roman"/>
                          <a:cs typeface="Times New Roman"/>
                          <a:sym typeface="Times New Roman"/>
                        </a:rPr>
                        <a:t>Çıkarılmış </a:t>
                      </a:r>
                      <a:r>
                        <a:rPr lang="tr" u="none" strike="noStrike" cap="none">
                          <a:latin typeface="Times New Roman"/>
                          <a:ea typeface="Times New Roman"/>
                          <a:cs typeface="Times New Roman"/>
                          <a:sym typeface="Times New Roman"/>
                        </a:rPr>
                        <a:t>RNN </a:t>
                      </a:r>
                      <a:r>
                        <a:rPr lang="tr">
                          <a:latin typeface="Times New Roman"/>
                          <a:ea typeface="Times New Roman"/>
                          <a:cs typeface="Times New Roman"/>
                          <a:sym typeface="Times New Roman"/>
                        </a:rPr>
                        <a:t>Eklenmiş Model</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0.541391</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1 h 22 m 41 s</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3.190</a:t>
                      </a:r>
                      <a:endParaRPr u="none" strike="noStrike" cap="none">
                        <a:latin typeface="Times New Roman"/>
                        <a:ea typeface="Times New Roman"/>
                        <a:cs typeface="Times New Roman"/>
                        <a:sym typeface="Times New Roman"/>
                      </a:endParaRPr>
                    </a:p>
                  </a:txBody>
                  <a:tcPr marL="68575" marR="68575" marT="0" marB="0" anchor="ctr"/>
                </a:tc>
                <a:tc>
                  <a:txBody>
                    <a:bodyPr/>
                    <a:lstStyle/>
                    <a:p>
                      <a:pPr marL="0" marR="0" lvl="0" indent="0" algn="l" rtl="0">
                        <a:lnSpc>
                          <a:spcPct val="150000"/>
                        </a:lnSpc>
                        <a:spcBef>
                          <a:spcPts val="0"/>
                        </a:spcBef>
                        <a:spcAft>
                          <a:spcPts val="0"/>
                        </a:spcAft>
                        <a:buNone/>
                      </a:pPr>
                      <a:r>
                        <a:rPr lang="tr" u="none" strike="noStrike" cap="none">
                          <a:latin typeface="Times New Roman"/>
                          <a:ea typeface="Times New Roman"/>
                          <a:cs typeface="Times New Roman"/>
                          <a:sym typeface="Times New Roman"/>
                        </a:rPr>
                        <a:t>3.193</a:t>
                      </a:r>
                      <a:endParaRPr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2" name="Resim 1">
            <a:extLst>
              <a:ext uri="{FF2B5EF4-FFF2-40B4-BE49-F238E27FC236}">
                <a16:creationId xmlns:a16="http://schemas.microsoft.com/office/drawing/2014/main" id="{5AA5304D-8A1C-AC42-F614-59DCC1BF2C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3517"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32"/>
          <p:cNvPicPr preferRelativeResize="0"/>
          <p:nvPr/>
        </p:nvPicPr>
        <p:blipFill rotWithShape="1">
          <a:blip r:embed="rId3">
            <a:alphaModFix/>
          </a:blip>
          <a:srcRect/>
          <a:stretch/>
        </p:blipFill>
        <p:spPr>
          <a:xfrm>
            <a:off x="3125" y="0"/>
            <a:ext cx="9143999" cy="5031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33"/>
          <p:cNvPicPr preferRelativeResize="0"/>
          <p:nvPr/>
        </p:nvPicPr>
        <p:blipFill rotWithShape="1">
          <a:blip r:embed="rId3">
            <a:alphaModFix/>
          </a:blip>
          <a:srcRect/>
          <a:stretch/>
        </p:blipFill>
        <p:spPr>
          <a:xfrm>
            <a:off x="0" y="-5200"/>
            <a:ext cx="9143999" cy="50594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tr" sz="3000" b="1">
                <a:latin typeface="Times New Roman"/>
                <a:ea typeface="Times New Roman"/>
                <a:cs typeface="Times New Roman"/>
                <a:sym typeface="Times New Roman"/>
              </a:rPr>
              <a:t>5. </a:t>
            </a:r>
            <a:r>
              <a:rPr lang="tr" sz="3000" b="1">
                <a:solidFill>
                  <a:srgbClr val="0D0D0D"/>
                </a:solidFill>
                <a:highlight>
                  <a:srgbClr val="FFFFFF"/>
                </a:highlight>
                <a:latin typeface="Times New Roman"/>
                <a:ea typeface="Times New Roman"/>
                <a:cs typeface="Times New Roman"/>
                <a:sym typeface="Times New Roman"/>
              </a:rPr>
              <a:t>SONUÇLAR</a:t>
            </a:r>
            <a:endParaRPr sz="3000" b="1">
              <a:latin typeface="Times New Roman"/>
              <a:ea typeface="Times New Roman"/>
              <a:cs typeface="Times New Roman"/>
              <a:sym typeface="Times New Roman"/>
            </a:endParaRPr>
          </a:p>
        </p:txBody>
      </p:sp>
      <p:sp>
        <p:nvSpPr>
          <p:cNvPr id="179" name="Google Shape;179;p34"/>
          <p:cNvSpPr txBox="1">
            <a:spLocks noGrp="1"/>
          </p:cNvSpPr>
          <p:nvPr>
            <p:ph type="body" idx="1"/>
          </p:nvPr>
        </p:nvSpPr>
        <p:spPr>
          <a:xfrm>
            <a:off x="311700" y="1316550"/>
            <a:ext cx="8520600" cy="3262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tr"/>
              <a:t>-Veri Deneyleri</a:t>
            </a:r>
            <a:endParaRPr/>
          </a:p>
          <a:p>
            <a:pPr marL="0" lvl="0" indent="0" algn="l" rtl="0">
              <a:spcBef>
                <a:spcPts val="1200"/>
              </a:spcBef>
              <a:spcAft>
                <a:spcPts val="0"/>
              </a:spcAft>
              <a:buNone/>
            </a:pPr>
            <a:r>
              <a:rPr lang="tr"/>
              <a:t>-Model ve Mimari Deneyleri</a:t>
            </a:r>
            <a:endParaRPr/>
          </a:p>
          <a:p>
            <a:pPr marL="0" lvl="0" indent="0" algn="l" rtl="0">
              <a:spcBef>
                <a:spcPts val="1200"/>
              </a:spcBef>
              <a:spcAft>
                <a:spcPts val="1200"/>
              </a:spcAft>
              <a:buNone/>
            </a:pPr>
            <a:r>
              <a:rPr lang="tr"/>
              <a:t>-Hiperparametre Ayarlama Deneyleri</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5"/>
          <p:cNvSpPr txBox="1">
            <a:spLocks noGrp="1"/>
          </p:cNvSpPr>
          <p:nvPr>
            <p:ph type="body" idx="1"/>
          </p:nvPr>
        </p:nvSpPr>
        <p:spPr>
          <a:xfrm>
            <a:off x="311700" y="1885575"/>
            <a:ext cx="8520600" cy="26937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tr" sz="4800" b="1">
                <a:latin typeface="Times New Roman"/>
                <a:ea typeface="Times New Roman"/>
                <a:cs typeface="Times New Roman"/>
                <a:sym typeface="Times New Roman"/>
              </a:rPr>
              <a:t>TEŞEKKÜRLER</a:t>
            </a:r>
            <a:endParaRPr sz="4800" b="1">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TotalTime>
  <Words>2839</Words>
  <Application>Microsoft Office PowerPoint</Application>
  <PresentationFormat>Ekran Gösterisi (16:9)</PresentationFormat>
  <Paragraphs>246</Paragraphs>
  <Slides>22</Slides>
  <Notes>22</Notes>
  <HiddenSlides>2</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22</vt:i4>
      </vt:variant>
    </vt:vector>
  </HeadingPairs>
  <TitlesOfParts>
    <vt:vector size="30" baseType="lpstr">
      <vt:lpstr>Economica</vt:lpstr>
      <vt:lpstr>Calibri</vt:lpstr>
      <vt:lpstr>Arial</vt:lpstr>
      <vt:lpstr>Roboto</vt:lpstr>
      <vt:lpstr>Open Sans</vt:lpstr>
      <vt:lpstr>Söhne</vt:lpstr>
      <vt:lpstr>Times New Roman</vt:lpstr>
      <vt:lpstr>Luxe</vt:lpstr>
      <vt:lpstr>Derin Öğrenme Tabanlı Öneri Sistemi ile Seyahat Önerilerinin Geliştirilmesi </vt:lpstr>
      <vt:lpstr>İÇERİK</vt:lpstr>
      <vt:lpstr>ÖNERİ SİSTEMLERİ</vt:lpstr>
      <vt:lpstr>PowerPoint Sunusu</vt:lpstr>
      <vt:lpstr>OTURUM TABANLI MATRİS ÇARPANLARINA AYIRMA İLE ÇOK KATMANLI ALGILAYICI </vt:lpstr>
      <vt:lpstr>PowerPoint Sunusu</vt:lpstr>
      <vt:lpstr> YÖNTEM</vt:lpstr>
      <vt:lpstr>PowerPoint Sunusu</vt:lpstr>
      <vt:lpstr>PowerPoint Sunusu</vt:lpstr>
      <vt:lpstr>PowerPoint Sunusu</vt:lpstr>
      <vt:lpstr>PowerPoint Sunusu</vt:lpstr>
      <vt:lpstr>PowerPoint Sunusu</vt:lpstr>
      <vt:lpstr>PowerPoint Sunusu</vt:lpstr>
      <vt:lpstr>DENEYSEL SONUÇLAR</vt:lpstr>
      <vt:lpstr>PowerPoint Sunusu</vt:lpstr>
      <vt:lpstr>PowerPoint Sunusu</vt:lpstr>
      <vt:lpstr>PowerPoint Sunusu</vt:lpstr>
      <vt:lpstr>PowerPoint Sunusu</vt:lpstr>
      <vt:lpstr>PowerPoint Sunusu</vt:lpstr>
      <vt:lpstr>PowerPoint Sunusu</vt:lpstr>
      <vt:lpstr>5. SONUÇLAR</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Derin Öğrenme Tabanlı Öneri Sistemi ile Seyahat Önerilerinin Geliştirilmesi</dc:title>
  <dc:creator>Nurdan</dc:creator>
  <cp:lastModifiedBy>NECATİ ERKAL</cp:lastModifiedBy>
  <cp:revision>23</cp:revision>
  <dcterms:modified xsi:type="dcterms:W3CDTF">2024-05-15T20:40:29Z</dcterms:modified>
</cp:coreProperties>
</file>